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ly" charset="1" panose="02040503050400000004"/>
      <p:regular r:id="rId28"/>
    </p:embeddedFont>
    <p:embeddedFont>
      <p:font typeface="DM Sans" charset="1" panose="00000000000000000000"/>
      <p:regular r:id="rId29"/>
    </p:embeddedFont>
    <p:embeddedFont>
      <p:font typeface="Bugaki" charset="1" panose="00000000000000000000"/>
      <p:regular r:id="rId30"/>
    </p:embeddedFont>
    <p:embeddedFont>
      <p:font typeface="DM Sans Bold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1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9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4386471" y="5638104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6004836" y="0"/>
                </a:moveTo>
                <a:lnTo>
                  <a:pt x="0" y="0"/>
                </a:lnTo>
                <a:lnTo>
                  <a:pt x="0" y="6883593"/>
                </a:lnTo>
                <a:lnTo>
                  <a:pt x="6004836" y="6883593"/>
                </a:lnTo>
                <a:lnTo>
                  <a:pt x="60048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1547244" y="-2193687"/>
            <a:ext cx="6004836" cy="6883592"/>
          </a:xfrm>
          <a:custGeom>
            <a:avLst/>
            <a:gdLst/>
            <a:ahLst/>
            <a:cxnLst/>
            <a:rect r="r" b="b" t="t" l="l"/>
            <a:pathLst>
              <a:path h="6883592" w="6004836">
                <a:moveTo>
                  <a:pt x="0" y="6883592"/>
                </a:moveTo>
                <a:lnTo>
                  <a:pt x="6004836" y="6883592"/>
                </a:lnTo>
                <a:lnTo>
                  <a:pt x="6004836" y="0"/>
                </a:lnTo>
                <a:lnTo>
                  <a:pt x="0" y="0"/>
                </a:lnTo>
                <a:lnTo>
                  <a:pt x="0" y="68835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6999" y="101941"/>
            <a:ext cx="4148586" cy="4148586"/>
          </a:xfrm>
          <a:custGeom>
            <a:avLst/>
            <a:gdLst/>
            <a:ahLst/>
            <a:cxnLst/>
            <a:rect r="r" b="b" t="t" l="l"/>
            <a:pathLst>
              <a:path h="4148586" w="4148586">
                <a:moveTo>
                  <a:pt x="0" y="0"/>
                </a:moveTo>
                <a:lnTo>
                  <a:pt x="4148586" y="0"/>
                </a:lnTo>
                <a:lnTo>
                  <a:pt x="4148586" y="4148586"/>
                </a:lnTo>
                <a:lnTo>
                  <a:pt x="0" y="4148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7204" y="7132837"/>
            <a:ext cx="2892669" cy="2892669"/>
          </a:xfrm>
          <a:custGeom>
            <a:avLst/>
            <a:gdLst/>
            <a:ahLst/>
            <a:cxnLst/>
            <a:rect r="r" b="b" t="t" l="l"/>
            <a:pathLst>
              <a:path h="2892669" w="2892669">
                <a:moveTo>
                  <a:pt x="0" y="0"/>
                </a:moveTo>
                <a:lnTo>
                  <a:pt x="2892669" y="0"/>
                </a:lnTo>
                <a:lnTo>
                  <a:pt x="2892669" y="2892669"/>
                </a:lnTo>
                <a:lnTo>
                  <a:pt x="0" y="2892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6022" y="7317550"/>
            <a:ext cx="2622539" cy="2622539"/>
          </a:xfrm>
          <a:custGeom>
            <a:avLst/>
            <a:gdLst/>
            <a:ahLst/>
            <a:cxnLst/>
            <a:rect r="r" b="b" t="t" l="l"/>
            <a:pathLst>
              <a:path h="2622539" w="2622539">
                <a:moveTo>
                  <a:pt x="0" y="0"/>
                </a:moveTo>
                <a:lnTo>
                  <a:pt x="2622539" y="0"/>
                </a:lnTo>
                <a:lnTo>
                  <a:pt x="2622539" y="2622540"/>
                </a:lnTo>
                <a:lnTo>
                  <a:pt x="0" y="2622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27396" y="7317550"/>
            <a:ext cx="2707956" cy="2707956"/>
          </a:xfrm>
          <a:custGeom>
            <a:avLst/>
            <a:gdLst/>
            <a:ahLst/>
            <a:cxnLst/>
            <a:rect r="r" b="b" t="t" l="l"/>
            <a:pathLst>
              <a:path h="2707956" w="2707956">
                <a:moveTo>
                  <a:pt x="0" y="0"/>
                </a:moveTo>
                <a:lnTo>
                  <a:pt x="2707955" y="0"/>
                </a:lnTo>
                <a:lnTo>
                  <a:pt x="2707955" y="2707956"/>
                </a:lnTo>
                <a:lnTo>
                  <a:pt x="0" y="27079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24447" y="7317550"/>
            <a:ext cx="2622539" cy="2622539"/>
          </a:xfrm>
          <a:custGeom>
            <a:avLst/>
            <a:gdLst/>
            <a:ahLst/>
            <a:cxnLst/>
            <a:rect r="r" b="b" t="t" l="l"/>
            <a:pathLst>
              <a:path h="2622539" w="2622539">
                <a:moveTo>
                  <a:pt x="0" y="0"/>
                </a:moveTo>
                <a:lnTo>
                  <a:pt x="2622539" y="0"/>
                </a:lnTo>
                <a:lnTo>
                  <a:pt x="2622539" y="2622540"/>
                </a:lnTo>
                <a:lnTo>
                  <a:pt x="0" y="26225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33538" y="4079077"/>
            <a:ext cx="10020923" cy="1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15"/>
              </a:lnSpc>
              <a:spcBef>
                <a:spcPct val="0"/>
              </a:spcBef>
            </a:pPr>
            <a:r>
              <a:rPr lang="en-US" sz="81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DESARROLLO WEB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33538" y="3317818"/>
            <a:ext cx="10020923" cy="687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75"/>
              </a:lnSpc>
              <a:spcBef>
                <a:spcPct val="0"/>
              </a:spcBef>
            </a:pP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MÓDULO</a:t>
            </a:r>
            <a:r>
              <a:rPr lang="en-US" sz="4054">
                <a:solidFill>
                  <a:srgbClr val="165EA0"/>
                </a:solidFill>
                <a:latin typeface="Poly"/>
                <a:ea typeface="Poly"/>
                <a:cs typeface="Poly"/>
                <a:sym typeface="Poly"/>
              </a:rPr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81818" y="5467195"/>
            <a:ext cx="7189363" cy="7268658"/>
          </a:xfrm>
          <a:custGeom>
            <a:avLst/>
            <a:gdLst/>
            <a:ahLst/>
            <a:cxnLst/>
            <a:rect r="r" b="b" t="t" l="l"/>
            <a:pathLst>
              <a:path h="7268658" w="7189363">
                <a:moveTo>
                  <a:pt x="0" y="0"/>
                </a:moveTo>
                <a:lnTo>
                  <a:pt x="7189364" y="0"/>
                </a:lnTo>
                <a:lnTo>
                  <a:pt x="7189364" y="7268657"/>
                </a:lnTo>
                <a:lnTo>
                  <a:pt x="0" y="7268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9163889">
            <a:off x="-1319133" y="-1423425"/>
            <a:ext cx="4037647" cy="3538447"/>
          </a:xfrm>
          <a:custGeom>
            <a:avLst/>
            <a:gdLst/>
            <a:ahLst/>
            <a:cxnLst/>
            <a:rect r="r" b="b" t="t" l="l"/>
            <a:pathLst>
              <a:path h="3538447" w="4037647">
                <a:moveTo>
                  <a:pt x="0" y="0"/>
                </a:moveTo>
                <a:lnTo>
                  <a:pt x="4037646" y="0"/>
                </a:lnTo>
                <a:lnTo>
                  <a:pt x="4037646" y="3538446"/>
                </a:lnTo>
                <a:lnTo>
                  <a:pt x="0" y="3538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56988" y="5264876"/>
            <a:ext cx="7976485" cy="4566538"/>
          </a:xfrm>
          <a:custGeom>
            <a:avLst/>
            <a:gdLst/>
            <a:ahLst/>
            <a:cxnLst/>
            <a:rect r="r" b="b" t="t" l="l"/>
            <a:pathLst>
              <a:path h="4566538" w="7976485">
                <a:moveTo>
                  <a:pt x="0" y="0"/>
                </a:moveTo>
                <a:lnTo>
                  <a:pt x="7976485" y="0"/>
                </a:lnTo>
                <a:lnTo>
                  <a:pt x="7976485" y="4566538"/>
                </a:lnTo>
                <a:lnTo>
                  <a:pt x="0" y="45665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5951" y="4883536"/>
            <a:ext cx="7421817" cy="4947878"/>
          </a:xfrm>
          <a:custGeom>
            <a:avLst/>
            <a:gdLst/>
            <a:ahLst/>
            <a:cxnLst/>
            <a:rect r="r" b="b" t="t" l="l"/>
            <a:pathLst>
              <a:path h="4947878" w="7421817">
                <a:moveTo>
                  <a:pt x="0" y="0"/>
                </a:moveTo>
                <a:lnTo>
                  <a:pt x="7421817" y="0"/>
                </a:lnTo>
                <a:lnTo>
                  <a:pt x="7421817" y="4947878"/>
                </a:lnTo>
                <a:lnTo>
                  <a:pt x="0" y="4947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188403"/>
            <a:ext cx="16628595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desarrollo web es la creación de sitios y apps para internet, combinando el frontend (lo que ves y usas en la pantalla) con el backend (el motor oculto en los servidores que procesa datos y bases de datos).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49890"/>
            <a:ext cx="16747751" cy="94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1"/>
              </a:lnSpc>
            </a:pPr>
            <a:r>
              <a:rPr lang="en-US" sz="6030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 QUÉ ES EL DESARROLLO WEB?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42838" y="6626109"/>
            <a:ext cx="3444910" cy="3444910"/>
          </a:xfrm>
          <a:custGeom>
            <a:avLst/>
            <a:gdLst/>
            <a:ahLst/>
            <a:cxnLst/>
            <a:rect r="r" b="b" t="t" l="l"/>
            <a:pathLst>
              <a:path h="3444910" w="3444910">
                <a:moveTo>
                  <a:pt x="0" y="0"/>
                </a:moveTo>
                <a:lnTo>
                  <a:pt x="3444910" y="0"/>
                </a:lnTo>
                <a:lnTo>
                  <a:pt x="3444910" y="3444910"/>
                </a:lnTo>
                <a:lnTo>
                  <a:pt x="0" y="344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42315" y="6564828"/>
            <a:ext cx="5157803" cy="3506192"/>
          </a:xfrm>
          <a:custGeom>
            <a:avLst/>
            <a:gdLst/>
            <a:ahLst/>
            <a:cxnLst/>
            <a:rect r="r" b="b" t="t" l="l"/>
            <a:pathLst>
              <a:path h="3506192" w="5157803">
                <a:moveTo>
                  <a:pt x="0" y="0"/>
                </a:moveTo>
                <a:lnTo>
                  <a:pt x="5157802" y="0"/>
                </a:lnTo>
                <a:lnTo>
                  <a:pt x="5157802" y="3506191"/>
                </a:lnTo>
                <a:lnTo>
                  <a:pt x="0" y="3506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2965F1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948175"/>
            <a:ext cx="16230600" cy="442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Hy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 M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rk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 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guage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— lenguaj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para 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ear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pági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Define la estructura y contenido de un sitio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Usa etiquetas para organizar cada elemento de la página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HTML?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66432" y="7288429"/>
            <a:ext cx="2813231" cy="2813231"/>
          </a:xfrm>
          <a:custGeom>
            <a:avLst/>
            <a:gdLst/>
            <a:ahLst/>
            <a:cxnLst/>
            <a:rect r="r" b="b" t="t" l="l"/>
            <a:pathLst>
              <a:path h="2813231" w="2813231">
                <a:moveTo>
                  <a:pt x="0" y="0"/>
                </a:moveTo>
                <a:lnTo>
                  <a:pt x="2813231" y="0"/>
                </a:lnTo>
                <a:lnTo>
                  <a:pt x="2813231" y="2813231"/>
                </a:lnTo>
                <a:lnTo>
                  <a:pt x="0" y="281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17396" y="822016"/>
            <a:ext cx="8631436" cy="10102156"/>
          </a:xfrm>
          <a:custGeom>
            <a:avLst/>
            <a:gdLst/>
            <a:ahLst/>
            <a:cxnLst/>
            <a:rect r="r" b="b" t="t" l="l"/>
            <a:pathLst>
              <a:path h="10102156" w="8631436">
                <a:moveTo>
                  <a:pt x="0" y="0"/>
                </a:moveTo>
                <a:lnTo>
                  <a:pt x="8631436" y="0"/>
                </a:lnTo>
                <a:lnTo>
                  <a:pt x="8631436" y="10102156"/>
                </a:lnTo>
                <a:lnTo>
                  <a:pt x="0" y="101021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75309"/>
            <a:ext cx="8488696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rear la estr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ctura base de una página web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Organizar t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extos, imágenes, enlaces y formularios 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Permitir que los navegadores entiendan el contenido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1655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¿PARA QUÉ SIRVE HTML?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03227" y="1028700"/>
            <a:ext cx="3506192" cy="3506192"/>
          </a:xfrm>
          <a:custGeom>
            <a:avLst/>
            <a:gdLst/>
            <a:ahLst/>
            <a:cxnLst/>
            <a:rect r="r" b="b" t="t" l="l"/>
            <a:pathLst>
              <a:path h="3506192" w="3506192">
                <a:moveTo>
                  <a:pt x="0" y="0"/>
                </a:moveTo>
                <a:lnTo>
                  <a:pt x="3506191" y="0"/>
                </a:lnTo>
                <a:lnTo>
                  <a:pt x="3506191" y="3506192"/>
                </a:lnTo>
                <a:lnTo>
                  <a:pt x="0" y="3506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77421" y="5143500"/>
            <a:ext cx="6470416" cy="4398485"/>
          </a:xfrm>
          <a:custGeom>
            <a:avLst/>
            <a:gdLst/>
            <a:ahLst/>
            <a:cxnLst/>
            <a:rect r="r" b="b" t="t" l="l"/>
            <a:pathLst>
              <a:path h="4398485" w="6470416">
                <a:moveTo>
                  <a:pt x="0" y="0"/>
                </a:moveTo>
                <a:lnTo>
                  <a:pt x="6470416" y="0"/>
                </a:lnTo>
                <a:lnTo>
                  <a:pt x="6470416" y="4398485"/>
                </a:lnTo>
                <a:lnTo>
                  <a:pt x="0" y="4398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rnd">
            <a:solidFill>
              <a:srgbClr val="2965F1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948175"/>
            <a:ext cx="8962070" cy="739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ascading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Styl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Sheets -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enguaje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ara dar estilo y diseño a las páginas web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ntrol visual: Colores, tamaños, espacios y posiciones de cada elemento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eparación: Mantiene el diseño separado del contenido HTML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CSS?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1751835"/>
            <a:ext cx="8555694" cy="5536594"/>
          </a:xfrm>
          <a:custGeom>
            <a:avLst/>
            <a:gdLst/>
            <a:ahLst/>
            <a:cxnLst/>
            <a:rect r="r" b="b" t="t" l="l"/>
            <a:pathLst>
              <a:path h="5536594" w="8555694">
                <a:moveTo>
                  <a:pt x="0" y="0"/>
                </a:moveTo>
                <a:lnTo>
                  <a:pt x="8555694" y="0"/>
                </a:lnTo>
                <a:lnTo>
                  <a:pt x="8555694" y="5536594"/>
                </a:lnTo>
                <a:lnTo>
                  <a:pt x="0" y="5536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303789" y="7479121"/>
            <a:ext cx="2622539" cy="2622539"/>
          </a:xfrm>
          <a:custGeom>
            <a:avLst/>
            <a:gdLst/>
            <a:ahLst/>
            <a:cxnLst/>
            <a:rect r="r" b="b" t="t" l="l"/>
            <a:pathLst>
              <a:path h="2622539" w="2622539">
                <a:moveTo>
                  <a:pt x="0" y="0"/>
                </a:moveTo>
                <a:lnTo>
                  <a:pt x="2622539" y="0"/>
                </a:lnTo>
                <a:lnTo>
                  <a:pt x="2622539" y="2622539"/>
                </a:lnTo>
                <a:lnTo>
                  <a:pt x="0" y="26225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375309"/>
            <a:ext cx="8488696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Hace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 que las páginas se vean atractivas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diseños responsivos (adaptables a móviles)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Separar el contenido del diseño visual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41655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¿PARA QUÉ SIRVE CSS?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10507" y="1015493"/>
            <a:ext cx="3561909" cy="3561909"/>
          </a:xfrm>
          <a:custGeom>
            <a:avLst/>
            <a:gdLst/>
            <a:ahLst/>
            <a:cxnLst/>
            <a:rect r="r" b="b" t="t" l="l"/>
            <a:pathLst>
              <a:path h="3561909" w="3561909">
                <a:moveTo>
                  <a:pt x="0" y="0"/>
                </a:moveTo>
                <a:lnTo>
                  <a:pt x="3561908" y="0"/>
                </a:lnTo>
                <a:lnTo>
                  <a:pt x="3561908" y="3561909"/>
                </a:lnTo>
                <a:lnTo>
                  <a:pt x="0" y="3561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3752" y="6235684"/>
            <a:ext cx="7293990" cy="3646995"/>
          </a:xfrm>
          <a:custGeom>
            <a:avLst/>
            <a:gdLst/>
            <a:ahLst/>
            <a:cxnLst/>
            <a:rect r="r" b="b" t="t" l="l"/>
            <a:pathLst>
              <a:path h="3646995" w="7293990">
                <a:moveTo>
                  <a:pt x="0" y="0"/>
                </a:moveTo>
                <a:lnTo>
                  <a:pt x="7293991" y="0"/>
                </a:lnTo>
                <a:lnTo>
                  <a:pt x="7293991" y="3646995"/>
                </a:lnTo>
                <a:lnTo>
                  <a:pt x="0" y="3646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rnd">
            <a:solidFill>
              <a:srgbClr val="2965F1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948175"/>
            <a:ext cx="12219007" cy="368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control de ver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ones para códig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o.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Registra todos los cambios en tus proyectos.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Permite trabajar en equipo sin conflictos.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GIT?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32537" y="6803282"/>
            <a:ext cx="8008591" cy="275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3"/>
              </a:lnSpc>
            </a:pPr>
            <a:r>
              <a:rPr lang="en-US" sz="393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</a:t>
            </a:r>
            <a:r>
              <a:rPr lang="en-US" sz="393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 guarda un historial completo de tu proyecto puedes volver a cualquier versión anterior en cualquier momento.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18571">
            <a:off x="12483482" y="7289732"/>
            <a:ext cx="2145681" cy="2459683"/>
          </a:xfrm>
          <a:custGeom>
            <a:avLst/>
            <a:gdLst/>
            <a:ahLst/>
            <a:cxnLst/>
            <a:rect r="r" b="b" t="t" l="l"/>
            <a:pathLst>
              <a:path h="2459683" w="2145681">
                <a:moveTo>
                  <a:pt x="0" y="0"/>
                </a:moveTo>
                <a:lnTo>
                  <a:pt x="2145681" y="0"/>
                </a:lnTo>
                <a:lnTo>
                  <a:pt x="2145681" y="2459683"/>
                </a:lnTo>
                <a:lnTo>
                  <a:pt x="0" y="2459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00117" y="6044899"/>
            <a:ext cx="6442407" cy="6513463"/>
          </a:xfrm>
          <a:custGeom>
            <a:avLst/>
            <a:gdLst/>
            <a:ahLst/>
            <a:cxnLst/>
            <a:rect r="r" b="b" t="t" l="l"/>
            <a:pathLst>
              <a:path h="6513463" w="6442407">
                <a:moveTo>
                  <a:pt x="0" y="0"/>
                </a:moveTo>
                <a:lnTo>
                  <a:pt x="6442408" y="0"/>
                </a:lnTo>
                <a:lnTo>
                  <a:pt x="6442408" y="6513464"/>
                </a:lnTo>
                <a:lnTo>
                  <a:pt x="0" y="65134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-1077540" y="7994430"/>
            <a:ext cx="3086503" cy="3538186"/>
          </a:xfrm>
          <a:custGeom>
            <a:avLst/>
            <a:gdLst/>
            <a:ahLst/>
            <a:cxnLst/>
            <a:rect r="r" b="b" t="t" l="l"/>
            <a:pathLst>
              <a:path h="3538186" w="3086503">
                <a:moveTo>
                  <a:pt x="0" y="0"/>
                </a:moveTo>
                <a:lnTo>
                  <a:pt x="3086503" y="0"/>
                </a:lnTo>
                <a:lnTo>
                  <a:pt x="3086503" y="3538186"/>
                </a:lnTo>
                <a:lnTo>
                  <a:pt x="0" y="353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90260" y="624942"/>
            <a:ext cx="3764453" cy="3764453"/>
          </a:xfrm>
          <a:custGeom>
            <a:avLst/>
            <a:gdLst/>
            <a:ahLst/>
            <a:cxnLst/>
            <a:rect r="r" b="b" t="t" l="l"/>
            <a:pathLst>
              <a:path h="3764453" w="3764453">
                <a:moveTo>
                  <a:pt x="0" y="0"/>
                </a:moveTo>
                <a:lnTo>
                  <a:pt x="3764453" y="0"/>
                </a:lnTo>
                <a:lnTo>
                  <a:pt x="3764453" y="3764453"/>
                </a:lnTo>
                <a:lnTo>
                  <a:pt x="0" y="376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83871" y="5753642"/>
            <a:ext cx="7821168" cy="3910584"/>
          </a:xfrm>
          <a:custGeom>
            <a:avLst/>
            <a:gdLst/>
            <a:ahLst/>
            <a:cxnLst/>
            <a:rect r="r" b="b" t="t" l="l"/>
            <a:pathLst>
              <a:path h="3910584" w="7821168">
                <a:moveTo>
                  <a:pt x="0" y="0"/>
                </a:moveTo>
                <a:lnTo>
                  <a:pt x="7821168" y="0"/>
                </a:lnTo>
                <a:lnTo>
                  <a:pt x="7821168" y="3910584"/>
                </a:lnTo>
                <a:lnTo>
                  <a:pt x="0" y="39105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rnd">
            <a:solidFill>
              <a:srgbClr val="2965F1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007753"/>
            <a:ext cx="9776304" cy="665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Almac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repositorios Guarda tus proyectos Git en la nube de forma segura.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Colaboración Facilita el trabajo en equipo entre desarrolladores.</a:t>
            </a:r>
          </a:p>
          <a:p>
            <a:pPr algn="l">
              <a:lnSpc>
                <a:spcPts val="5880"/>
              </a:lnSpc>
            </a:pP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Portafolio Comparte y muestra tus proyectos al mundo.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7237" y="1009650"/>
            <a:ext cx="16230600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¿QUÉ ES GITHUB?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07741" y="895350"/>
            <a:ext cx="12794722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HTML: FUNDAMENTOS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86604" y="4570978"/>
            <a:ext cx="4997762" cy="4997762"/>
          </a:xfrm>
          <a:custGeom>
            <a:avLst/>
            <a:gdLst/>
            <a:ahLst/>
            <a:cxnLst/>
            <a:rect r="r" b="b" t="t" l="l"/>
            <a:pathLst>
              <a:path h="4997762" w="4997762">
                <a:moveTo>
                  <a:pt x="0" y="0"/>
                </a:moveTo>
                <a:lnTo>
                  <a:pt x="4997762" y="0"/>
                </a:lnTo>
                <a:lnTo>
                  <a:pt x="4997762" y="4997762"/>
                </a:lnTo>
                <a:lnTo>
                  <a:pt x="0" y="4997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576" y="1983582"/>
            <a:ext cx="10934089" cy="14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Conoce la estructura básica que 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toda página web necesita para existir.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28114" y="106449"/>
            <a:ext cx="9492671" cy="11110137"/>
          </a:xfrm>
          <a:custGeom>
            <a:avLst/>
            <a:gdLst/>
            <a:ahLst/>
            <a:cxnLst/>
            <a:rect r="r" b="b" t="t" l="l"/>
            <a:pathLst>
              <a:path h="11110137" w="9492671">
                <a:moveTo>
                  <a:pt x="0" y="0"/>
                </a:moveTo>
                <a:lnTo>
                  <a:pt x="9492671" y="0"/>
                </a:lnTo>
                <a:lnTo>
                  <a:pt x="9492671" y="11110137"/>
                </a:lnTo>
                <a:lnTo>
                  <a:pt x="0" y="111101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84366" y="4026377"/>
            <a:ext cx="5206869" cy="5542364"/>
          </a:xfrm>
          <a:custGeom>
            <a:avLst/>
            <a:gdLst/>
            <a:ahLst/>
            <a:cxnLst/>
            <a:rect r="r" b="b" t="t" l="l"/>
            <a:pathLst>
              <a:path h="5542364" w="5206869">
                <a:moveTo>
                  <a:pt x="0" y="0"/>
                </a:moveTo>
                <a:lnTo>
                  <a:pt x="5206870" y="0"/>
                </a:lnTo>
                <a:lnTo>
                  <a:pt x="5206870" y="5542363"/>
                </a:lnTo>
                <a:lnTo>
                  <a:pt x="0" y="5542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862792" y="3628693"/>
            <a:ext cx="7128893" cy="4670654"/>
          </a:xfrm>
          <a:custGeom>
            <a:avLst/>
            <a:gdLst/>
            <a:ahLst/>
            <a:cxnLst/>
            <a:rect r="r" b="b" t="t" l="l"/>
            <a:pathLst>
              <a:path h="4670654" w="7128893">
                <a:moveTo>
                  <a:pt x="0" y="0"/>
                </a:moveTo>
                <a:lnTo>
                  <a:pt x="7128892" y="0"/>
                </a:lnTo>
                <a:lnTo>
                  <a:pt x="7128892" y="4670654"/>
                </a:lnTo>
                <a:lnTo>
                  <a:pt x="0" y="4670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2435" y="657038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ESTRUCTURA BÁSICA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1029" y="3043428"/>
            <a:ext cx="10934089" cy="55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&lt;!DOCTYPE html&gt; - declara que es HTML5</a:t>
            </a:r>
          </a:p>
          <a:p>
            <a:pPr algn="l">
              <a:lnSpc>
                <a:spcPts val="5520"/>
              </a:lnSpc>
            </a:pPr>
          </a:p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&lt;html&gt; - Contenedor principal de l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página </a:t>
            </a:r>
          </a:p>
          <a:p>
            <a:pPr algn="l">
              <a:lnSpc>
                <a:spcPts val="5520"/>
              </a:lnSpc>
            </a:pPr>
          </a:p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&lt;head&gt; - Información y metadatos de la página </a:t>
            </a:r>
          </a:p>
          <a:p>
            <a:pPr algn="l">
              <a:lnSpc>
                <a:spcPts val="5520"/>
              </a:lnSpc>
            </a:pPr>
          </a:p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&lt;body&gt; - T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odo el contenido visible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025953" y="597126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6" y="0"/>
                </a:lnTo>
                <a:lnTo>
                  <a:pt x="2228556" y="2403345"/>
                </a:lnTo>
                <a:lnTo>
                  <a:pt x="0" y="2403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2435" y="1798799"/>
            <a:ext cx="9705440" cy="6046012"/>
          </a:xfrm>
          <a:custGeom>
            <a:avLst/>
            <a:gdLst/>
            <a:ahLst/>
            <a:cxnLst/>
            <a:rect r="r" b="b" t="t" l="l"/>
            <a:pathLst>
              <a:path h="6046012" w="9705440">
                <a:moveTo>
                  <a:pt x="0" y="0"/>
                </a:moveTo>
                <a:lnTo>
                  <a:pt x="9705440" y="0"/>
                </a:lnTo>
                <a:lnTo>
                  <a:pt x="9705440" y="6046012"/>
                </a:lnTo>
                <a:lnTo>
                  <a:pt x="0" y="60460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2435" y="657038"/>
            <a:ext cx="10510894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EJEMPLO DE HTML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29835" y="3731224"/>
            <a:ext cx="8257698" cy="55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39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&lt;!DOCTYPE html&gt; - Indica al navegador la versión de HTML</a:t>
            </a:r>
          </a:p>
          <a:p>
            <a:pPr algn="l">
              <a:lnSpc>
                <a:spcPts val="5508"/>
              </a:lnSpc>
            </a:pPr>
          </a:p>
          <a:p>
            <a:pPr algn="l">
              <a:lnSpc>
                <a:spcPts val="5508"/>
              </a:lnSpc>
            </a:pPr>
            <a:r>
              <a:rPr lang="en-US" sz="39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&lt;title&gt; - Aparece en la pestaña del n</a:t>
            </a:r>
            <a:r>
              <a:rPr lang="en-US" sz="39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avegador.</a:t>
            </a:r>
          </a:p>
          <a:p>
            <a:pPr algn="l">
              <a:lnSpc>
                <a:spcPts val="5508"/>
              </a:lnSpc>
            </a:pPr>
          </a:p>
          <a:p>
            <a:pPr algn="l">
              <a:lnSpc>
                <a:spcPts val="5508"/>
              </a:lnSpc>
            </a:pPr>
            <a:r>
              <a:rPr lang="en-US" sz="393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&lt;h1&gt; - El primer texto visible de la página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172973"/>
            <a:ext cx="2228557" cy="2403345"/>
          </a:xfrm>
          <a:custGeom>
            <a:avLst/>
            <a:gdLst/>
            <a:ahLst/>
            <a:cxnLst/>
            <a:rect r="r" b="b" t="t" l="l"/>
            <a:pathLst>
              <a:path h="2403345" w="2228557">
                <a:moveTo>
                  <a:pt x="0" y="0"/>
                </a:moveTo>
                <a:lnTo>
                  <a:pt x="2228557" y="0"/>
                </a:lnTo>
                <a:lnTo>
                  <a:pt x="2228557" y="2403346"/>
                </a:lnTo>
                <a:lnTo>
                  <a:pt x="0" y="24033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888553" y="241794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ALGUNAS ETIQUETAS DENTRO DEL &lt;BODY&gt;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7417" y="2291385"/>
            <a:ext cx="16713167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&lt;h1&gt; a &lt;h6&gt;: Encabezados de text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&lt;p&gt;: Define párrafos de texto estándar.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&lt;a&gt;: Enlaces o hipervínculos para navegar a otras páginas o secciones (href).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&lt;img&gt;: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Inserta imágenes especificando su ruta (src).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&lt;div&gt;: Contenedor genérico en bloque para agrupar elementos y aplicar estilos.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223555" y="0"/>
            <a:ext cx="2813231" cy="2813231"/>
          </a:xfrm>
          <a:custGeom>
            <a:avLst/>
            <a:gdLst/>
            <a:ahLst/>
            <a:cxnLst/>
            <a:rect r="r" b="b" t="t" l="l"/>
            <a:pathLst>
              <a:path h="2813231" w="2813231">
                <a:moveTo>
                  <a:pt x="0" y="0"/>
                </a:moveTo>
                <a:lnTo>
                  <a:pt x="2813231" y="0"/>
                </a:lnTo>
                <a:lnTo>
                  <a:pt x="2813231" y="2813231"/>
                </a:lnTo>
                <a:lnTo>
                  <a:pt x="0" y="281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3717006" y="-2697510"/>
            <a:ext cx="6320399" cy="5607918"/>
          </a:xfrm>
          <a:custGeom>
            <a:avLst/>
            <a:gdLst/>
            <a:ahLst/>
            <a:cxnLst/>
            <a:rect r="r" b="b" t="t" l="l"/>
            <a:pathLst>
              <a:path h="5607918" w="6320399">
                <a:moveTo>
                  <a:pt x="0" y="0"/>
                </a:moveTo>
                <a:lnTo>
                  <a:pt x="6320399" y="0"/>
                </a:lnTo>
                <a:lnTo>
                  <a:pt x="6320399" y="5607917"/>
                </a:lnTo>
                <a:lnTo>
                  <a:pt x="0" y="560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4806" y="106449"/>
            <a:ext cx="2087013" cy="2250700"/>
          </a:xfrm>
          <a:custGeom>
            <a:avLst/>
            <a:gdLst/>
            <a:ahLst/>
            <a:cxnLst/>
            <a:rect r="r" b="b" t="t" l="l"/>
            <a:pathLst>
              <a:path h="2250700" w="2087013">
                <a:moveTo>
                  <a:pt x="0" y="0"/>
                </a:moveTo>
                <a:lnTo>
                  <a:pt x="2087012" y="0"/>
                </a:lnTo>
                <a:lnTo>
                  <a:pt x="2087012" y="2250700"/>
                </a:lnTo>
                <a:lnTo>
                  <a:pt x="0" y="2250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51214" y="2291385"/>
            <a:ext cx="17785573" cy="76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&lt;span&gt;: Contenedor en línea para aplicar estilos a fragment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específicos de texto.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&lt;ul&gt;, &lt;ol&gt;, &lt;li&gt;: Listas desordenad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 con viñetas, ordenadas con números, y sus elementos individuales.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&lt;form&gt;, &lt;input&gt;, &lt;button&gt;: Elementos interactivos para recopilar datos del usuario (formularios, campos de texto y botones).</a:t>
            </a:r>
          </a:p>
          <a:p>
            <a:pPr algn="l">
              <a:lnSpc>
                <a:spcPts val="5520"/>
              </a:lnSpc>
            </a:pPr>
          </a:p>
          <a:p>
            <a:pPr algn="l" marL="851274" indent="-425637" lvl="1">
              <a:lnSpc>
                <a:spcPts val="5520"/>
              </a:lnSpc>
              <a:buFont typeface="Arial"/>
              <a:buChar char="•"/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&lt;header&gt;, &lt;nav&gt;, &lt;main&gt;, &lt;footer&gt;: Etiquetas semánticas para estructurar la cabecera, navegación, contenido principal y pie de página.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23555" y="0"/>
            <a:ext cx="2813231" cy="2813231"/>
          </a:xfrm>
          <a:custGeom>
            <a:avLst/>
            <a:gdLst/>
            <a:ahLst/>
            <a:cxnLst/>
            <a:rect r="r" b="b" t="t" l="l"/>
            <a:pathLst>
              <a:path h="2813231" w="2813231">
                <a:moveTo>
                  <a:pt x="0" y="0"/>
                </a:moveTo>
                <a:lnTo>
                  <a:pt x="2813231" y="0"/>
                </a:lnTo>
                <a:lnTo>
                  <a:pt x="2813231" y="2813231"/>
                </a:lnTo>
                <a:lnTo>
                  <a:pt x="0" y="281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8553" y="170834"/>
            <a:ext cx="10510894" cy="198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ALGUNAS ETIQUETAS DENTRO DEL &lt;BODY&gt;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7913" y="2680746"/>
            <a:ext cx="7677353" cy="4398031"/>
            <a:chOff x="0" y="0"/>
            <a:chExt cx="2022019" cy="1158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2019" cy="1158329"/>
            </a:xfrm>
            <a:custGeom>
              <a:avLst/>
              <a:gdLst/>
              <a:ahLst/>
              <a:cxnLst/>
              <a:rect r="r" b="b" t="t" l="l"/>
              <a:pathLst>
                <a:path h="1158329" w="2022019">
                  <a:moveTo>
                    <a:pt x="51429" y="0"/>
                  </a:moveTo>
                  <a:lnTo>
                    <a:pt x="1970590" y="0"/>
                  </a:lnTo>
                  <a:cubicBezTo>
                    <a:pt x="1998993" y="0"/>
                    <a:pt x="2022019" y="23026"/>
                    <a:pt x="2022019" y="51429"/>
                  </a:cubicBezTo>
                  <a:lnTo>
                    <a:pt x="2022019" y="1106900"/>
                  </a:lnTo>
                  <a:cubicBezTo>
                    <a:pt x="2022019" y="1135304"/>
                    <a:pt x="1998993" y="1158329"/>
                    <a:pt x="1970590" y="1158329"/>
                  </a:cubicBezTo>
                  <a:lnTo>
                    <a:pt x="51429" y="1158329"/>
                  </a:lnTo>
                  <a:cubicBezTo>
                    <a:pt x="23026" y="1158329"/>
                    <a:pt x="0" y="1135304"/>
                    <a:pt x="0" y="1106900"/>
                  </a:cubicBezTo>
                  <a:lnTo>
                    <a:pt x="0" y="51429"/>
                  </a:lnTo>
                  <a:cubicBezTo>
                    <a:pt x="0" y="23026"/>
                    <a:pt x="23026" y="0"/>
                    <a:pt x="514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022019" cy="1234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10800000">
            <a:off x="14218328" y="6392721"/>
            <a:ext cx="6081945" cy="5329995"/>
          </a:xfrm>
          <a:custGeom>
            <a:avLst/>
            <a:gdLst/>
            <a:ahLst/>
            <a:cxnLst/>
            <a:rect r="r" b="b" t="t" l="l"/>
            <a:pathLst>
              <a:path h="5329995" w="6081945">
                <a:moveTo>
                  <a:pt x="6081944" y="0"/>
                </a:moveTo>
                <a:lnTo>
                  <a:pt x="0" y="0"/>
                </a:lnTo>
                <a:lnTo>
                  <a:pt x="0" y="5329995"/>
                </a:lnTo>
                <a:lnTo>
                  <a:pt x="6081944" y="5329995"/>
                </a:lnTo>
                <a:lnTo>
                  <a:pt x="60819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9242845" y="2680746"/>
            <a:ext cx="7837721" cy="4398031"/>
            <a:chOff x="0" y="0"/>
            <a:chExt cx="2064256" cy="1158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4256" cy="1158329"/>
            </a:xfrm>
            <a:custGeom>
              <a:avLst/>
              <a:gdLst/>
              <a:ahLst/>
              <a:cxnLst/>
              <a:rect r="r" b="b" t="t" l="l"/>
              <a:pathLst>
                <a:path h="1158329" w="2064256">
                  <a:moveTo>
                    <a:pt x="50377" y="0"/>
                  </a:moveTo>
                  <a:lnTo>
                    <a:pt x="2013879" y="0"/>
                  </a:lnTo>
                  <a:cubicBezTo>
                    <a:pt x="2027240" y="0"/>
                    <a:pt x="2040053" y="5308"/>
                    <a:pt x="2049501" y="14755"/>
                  </a:cubicBezTo>
                  <a:cubicBezTo>
                    <a:pt x="2058948" y="24202"/>
                    <a:pt x="2064256" y="37016"/>
                    <a:pt x="2064256" y="50377"/>
                  </a:cubicBezTo>
                  <a:lnTo>
                    <a:pt x="2064256" y="1107953"/>
                  </a:lnTo>
                  <a:cubicBezTo>
                    <a:pt x="2064256" y="1135775"/>
                    <a:pt x="2041701" y="1158329"/>
                    <a:pt x="2013879" y="1158329"/>
                  </a:cubicBezTo>
                  <a:lnTo>
                    <a:pt x="50377" y="1158329"/>
                  </a:lnTo>
                  <a:cubicBezTo>
                    <a:pt x="37016" y="1158329"/>
                    <a:pt x="24202" y="1153022"/>
                    <a:pt x="14755" y="1143574"/>
                  </a:cubicBezTo>
                  <a:cubicBezTo>
                    <a:pt x="5308" y="1134127"/>
                    <a:pt x="0" y="1121313"/>
                    <a:pt x="0" y="1107953"/>
                  </a:cubicBezTo>
                  <a:lnTo>
                    <a:pt x="0" y="50377"/>
                  </a:lnTo>
                  <a:cubicBezTo>
                    <a:pt x="0" y="37016"/>
                    <a:pt x="5308" y="24202"/>
                    <a:pt x="14755" y="14755"/>
                  </a:cubicBezTo>
                  <a:cubicBezTo>
                    <a:pt x="24202" y="5308"/>
                    <a:pt x="37016" y="0"/>
                    <a:pt x="5037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064256" cy="1234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20108" y="2911976"/>
            <a:ext cx="6860458" cy="373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7"/>
              </a:lnSpc>
            </a:pPr>
            <a:r>
              <a:rPr lang="en-US" sz="352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</a:t>
            </a:r>
            <a:r>
              <a:rPr lang="en-US" sz="35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rn</a:t>
            </a:r>
            <a:r>
              <a:rPr lang="en-US" sz="35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5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 marL="0" indent="0" lvl="0">
              <a:lnSpc>
                <a:spcPts val="3837"/>
              </a:lnSpc>
            </a:pPr>
          </a:p>
          <a:p>
            <a:pPr algn="l" marL="0" indent="0" lvl="0">
              <a:lnSpc>
                <a:spcPts val="3619"/>
              </a:lnSpc>
            </a:pPr>
            <a:r>
              <a:rPr lang="en-US" sz="33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Estilos definidos dentro de la etiqueta &lt;style&gt;</a:t>
            </a:r>
            <a:r>
              <a:rPr lang="en-US" sz="33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-US" sz="33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la sección &lt;head&gt;</a:t>
            </a:r>
            <a:r>
              <a:rPr lang="en-US" sz="33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</a:t>
            </a:r>
            <a:r>
              <a:rPr lang="en-US" sz="332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 documento HTML. Útil para páginas individuales con estilos únicos, mantiene el CSS dentro del archivo HTML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883120" y="7349776"/>
            <a:ext cx="13197446" cy="2782783"/>
            <a:chOff x="0" y="0"/>
            <a:chExt cx="3475871" cy="7329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75870" cy="732914"/>
            </a:xfrm>
            <a:custGeom>
              <a:avLst/>
              <a:gdLst/>
              <a:ahLst/>
              <a:cxnLst/>
              <a:rect r="r" b="b" t="t" l="l"/>
              <a:pathLst>
                <a:path h="732914" w="3475870">
                  <a:moveTo>
                    <a:pt x="29918" y="0"/>
                  </a:moveTo>
                  <a:lnTo>
                    <a:pt x="3445952" y="0"/>
                  </a:lnTo>
                  <a:cubicBezTo>
                    <a:pt x="3453887" y="0"/>
                    <a:pt x="3461497" y="3152"/>
                    <a:pt x="3467108" y="8763"/>
                  </a:cubicBezTo>
                  <a:cubicBezTo>
                    <a:pt x="3472718" y="14373"/>
                    <a:pt x="3475870" y="21983"/>
                    <a:pt x="3475870" y="29918"/>
                  </a:cubicBezTo>
                  <a:lnTo>
                    <a:pt x="3475870" y="702996"/>
                  </a:lnTo>
                  <a:cubicBezTo>
                    <a:pt x="3475870" y="719519"/>
                    <a:pt x="3462476" y="732914"/>
                    <a:pt x="3445952" y="732914"/>
                  </a:cubicBezTo>
                  <a:lnTo>
                    <a:pt x="29918" y="732914"/>
                  </a:lnTo>
                  <a:cubicBezTo>
                    <a:pt x="13395" y="732914"/>
                    <a:pt x="0" y="719519"/>
                    <a:pt x="0" y="702996"/>
                  </a:cubicBezTo>
                  <a:lnTo>
                    <a:pt x="0" y="29918"/>
                  </a:lnTo>
                  <a:cubicBezTo>
                    <a:pt x="0" y="13395"/>
                    <a:pt x="13395" y="0"/>
                    <a:pt x="299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3475871" cy="80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-2077937" y="7078777"/>
            <a:ext cx="5299100" cy="4643939"/>
          </a:xfrm>
          <a:custGeom>
            <a:avLst/>
            <a:gdLst/>
            <a:ahLst/>
            <a:cxnLst/>
            <a:rect r="r" b="b" t="t" l="l"/>
            <a:pathLst>
              <a:path h="4643939" w="5299100">
                <a:moveTo>
                  <a:pt x="5299100" y="0"/>
                </a:moveTo>
                <a:lnTo>
                  <a:pt x="0" y="0"/>
                </a:lnTo>
                <a:lnTo>
                  <a:pt x="0" y="4643939"/>
                </a:lnTo>
                <a:lnTo>
                  <a:pt x="5299100" y="4643939"/>
                </a:lnTo>
                <a:lnTo>
                  <a:pt x="52991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451791" y="2395468"/>
            <a:ext cx="1430495" cy="14304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085876" y="2865576"/>
            <a:ext cx="7152993" cy="3752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Inlin</a:t>
            </a: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06"/>
              </a:lnSpc>
              <a:spcBef>
                <a:spcPct val="0"/>
              </a:spcBef>
            </a:pPr>
            <a:r>
              <a:rPr lang="en-US" sz="34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Estilos aplicados directamente a un elemento HTML usando el atributo style. Ideal para cambios rápidos y específicos, pero no recomendado para mantener un diseño consistente.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89612" y="2121753"/>
            <a:ext cx="1430495" cy="1430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61466" y="7078777"/>
            <a:ext cx="1430495" cy="1430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7F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575481" y="229775"/>
            <a:ext cx="2374669" cy="2374669"/>
          </a:xfrm>
          <a:custGeom>
            <a:avLst/>
            <a:gdLst/>
            <a:ahLst/>
            <a:cxnLst/>
            <a:rect r="r" b="b" t="t" l="l"/>
            <a:pathLst>
              <a:path h="2374669" w="2374669">
                <a:moveTo>
                  <a:pt x="0" y="0"/>
                </a:moveTo>
                <a:lnTo>
                  <a:pt x="2374669" y="0"/>
                </a:lnTo>
                <a:lnTo>
                  <a:pt x="2374669" y="2374669"/>
                </a:lnTo>
                <a:lnTo>
                  <a:pt x="0" y="2374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287027"/>
            <a:ext cx="11258009" cy="74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4"/>
              </a:lnSpc>
            </a:pPr>
            <a:r>
              <a:rPr lang="en-US" sz="47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¿CÓMO SE APLICA CSS?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49821" y="7579181"/>
            <a:ext cx="12412994" cy="235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Externo </a:t>
            </a:r>
          </a:p>
          <a:p>
            <a:pPr algn="l">
              <a:lnSpc>
                <a:spcPts val="3706"/>
              </a:lnSpc>
            </a:pPr>
          </a:p>
          <a:p>
            <a:pPr algn="l" marL="0" indent="0" lvl="0">
              <a:lnSpc>
                <a:spcPts val="3706"/>
              </a:lnSpc>
            </a:pPr>
            <a:r>
              <a:rPr lang="en-US" sz="3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Estilos almacenados en un archivo .css separado y enlazados al HTML. La práctica más recomendada para proyectos grandes, permite reutilizar estilos y facilitar el mantenimiento.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1791" y="2575869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89612" y="2298007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19326" y="7321201"/>
            <a:ext cx="1314776" cy="104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</a:pPr>
            <a:r>
              <a:rPr lang="en-US" sz="6685">
                <a:solidFill>
                  <a:srgbClr val="000000"/>
                </a:solidFill>
                <a:latin typeface="Bugaki"/>
                <a:ea typeface="Bugaki"/>
                <a:cs typeface="Bugaki"/>
                <a:sym typeface="Bugaki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5142" y="1215016"/>
            <a:ext cx="14600267" cy="933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1"/>
              </a:lnSpc>
              <a:spcBef>
                <a:spcPct val="0"/>
              </a:spcBef>
            </a:pPr>
            <a:r>
              <a:rPr lang="en-US" sz="346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ist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tres f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mas pr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ncip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 i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grar CSS 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tus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HTML, c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 con 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v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taj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3467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24362" y="-2727815"/>
            <a:ext cx="5782739" cy="5130866"/>
          </a:xfrm>
          <a:custGeom>
            <a:avLst/>
            <a:gdLst/>
            <a:ahLst/>
            <a:cxnLst/>
            <a:rect r="r" b="b" t="t" l="l"/>
            <a:pathLst>
              <a:path h="5130866" w="5782739">
                <a:moveTo>
                  <a:pt x="0" y="0"/>
                </a:moveTo>
                <a:lnTo>
                  <a:pt x="5782739" y="0"/>
                </a:lnTo>
                <a:lnTo>
                  <a:pt x="5782739" y="5130867"/>
                </a:lnTo>
                <a:lnTo>
                  <a:pt x="0" y="513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4806" y="106449"/>
            <a:ext cx="2087013" cy="2250700"/>
          </a:xfrm>
          <a:custGeom>
            <a:avLst/>
            <a:gdLst/>
            <a:ahLst/>
            <a:cxnLst/>
            <a:rect r="r" b="b" t="t" l="l"/>
            <a:pathLst>
              <a:path h="2250700" w="2087013">
                <a:moveTo>
                  <a:pt x="0" y="0"/>
                </a:moveTo>
                <a:lnTo>
                  <a:pt x="2087012" y="0"/>
                </a:lnTo>
                <a:lnTo>
                  <a:pt x="2087012" y="2250700"/>
                </a:lnTo>
                <a:lnTo>
                  <a:pt x="0" y="2250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51214" y="2291385"/>
            <a:ext cx="17785573" cy="13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Cada regla CSS defin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cómo se verá un elemento HTML, siguiendo una estructura simple de selector, propiedad y valor.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79995" y="106449"/>
            <a:ext cx="2250700" cy="2250700"/>
          </a:xfrm>
          <a:custGeom>
            <a:avLst/>
            <a:gdLst/>
            <a:ahLst/>
            <a:cxnLst/>
            <a:rect r="r" b="b" t="t" l="l"/>
            <a:pathLst>
              <a:path h="2250700" w="2250700">
                <a:moveTo>
                  <a:pt x="0" y="0"/>
                </a:moveTo>
                <a:lnTo>
                  <a:pt x="2250700" y="0"/>
                </a:lnTo>
                <a:lnTo>
                  <a:pt x="2250700" y="2250700"/>
                </a:lnTo>
                <a:lnTo>
                  <a:pt x="0" y="225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96287" y="439223"/>
            <a:ext cx="12695425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SINTAXIS BÁSICA DE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846769"/>
            <a:ext cx="4579090" cy="27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sel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ector {                  propiedad: </a:t>
            </a: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valor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    propiedad2: </a:t>
            </a:r>
            <a:r>
              <a:rPr lang="en-US" sz="394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valor2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; </a:t>
            </a:r>
          </a:p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}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8866" y="4467710"/>
            <a:ext cx="11397921" cy="53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Defin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a qué elemento HTML se aplicará el estilo (ej. h1, .clase). 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Propiedad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La característica visual que se desea modificar (ej. color, font-size, background-color).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Valor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El ajuste específico para la propiedad (ej. blue, 16px)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4224362" y="-2727815"/>
            <a:ext cx="5782739" cy="5130866"/>
          </a:xfrm>
          <a:custGeom>
            <a:avLst/>
            <a:gdLst/>
            <a:ahLst/>
            <a:cxnLst/>
            <a:rect r="r" b="b" t="t" l="l"/>
            <a:pathLst>
              <a:path h="5130866" w="5782739">
                <a:moveTo>
                  <a:pt x="0" y="0"/>
                </a:moveTo>
                <a:lnTo>
                  <a:pt x="5782739" y="0"/>
                </a:lnTo>
                <a:lnTo>
                  <a:pt x="5782739" y="5130867"/>
                </a:lnTo>
                <a:lnTo>
                  <a:pt x="0" y="513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4806" y="106449"/>
            <a:ext cx="2087013" cy="2250700"/>
          </a:xfrm>
          <a:custGeom>
            <a:avLst/>
            <a:gdLst/>
            <a:ahLst/>
            <a:cxnLst/>
            <a:rect r="r" b="b" t="t" l="l"/>
            <a:pathLst>
              <a:path h="2250700" w="2087013">
                <a:moveTo>
                  <a:pt x="0" y="0"/>
                </a:moveTo>
                <a:lnTo>
                  <a:pt x="2087012" y="0"/>
                </a:lnTo>
                <a:lnTo>
                  <a:pt x="2087012" y="2250700"/>
                </a:lnTo>
                <a:lnTo>
                  <a:pt x="0" y="2250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51214" y="2291385"/>
            <a:ext cx="17785573" cy="13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Los sele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ctores son patrones utilizados para seleccionar y dar 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estilo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 elementos específicos en tu documento </a:t>
            </a:r>
            <a:r>
              <a:rPr lang="en-US" b="true" sz="394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HTML</a:t>
            </a:r>
            <a:r>
              <a:rPr lang="en-US" sz="39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79995" y="106449"/>
            <a:ext cx="2250700" cy="2250700"/>
          </a:xfrm>
          <a:custGeom>
            <a:avLst/>
            <a:gdLst/>
            <a:ahLst/>
            <a:cxnLst/>
            <a:rect r="r" b="b" t="t" l="l"/>
            <a:pathLst>
              <a:path h="2250700" w="2250700">
                <a:moveTo>
                  <a:pt x="0" y="0"/>
                </a:moveTo>
                <a:lnTo>
                  <a:pt x="2250700" y="0"/>
                </a:lnTo>
                <a:lnTo>
                  <a:pt x="2250700" y="2250700"/>
                </a:lnTo>
                <a:lnTo>
                  <a:pt x="0" y="225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96287" y="439223"/>
            <a:ext cx="12695425" cy="10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8"/>
              </a:lnSpc>
            </a:pPr>
            <a:r>
              <a:rPr lang="en-US" sz="6047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SELECTORES CSS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0950" y="4467710"/>
            <a:ext cx="5062781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Elemento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Af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ecta a todos los elementos de un tipo específico, como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&lt;p&gt;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párrafos 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&lt;h1&gt;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para titulos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94157" y="4467710"/>
            <a:ext cx="5499687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Clase 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elecciona elementos que comparten un atributo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class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específico. Se define con un punto: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.mi-clase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2968" y="4467710"/>
            <a:ext cx="5261374" cy="471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9"/>
              </a:lnSpc>
            </a:pPr>
            <a:r>
              <a:rPr lang="en-US" sz="3828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Selector de ID</a:t>
            </a:r>
          </a:p>
          <a:p>
            <a:pPr algn="l">
              <a:lnSpc>
                <a:spcPts val="5359"/>
              </a:lnSpc>
            </a:pPr>
          </a:p>
          <a:p>
            <a:pPr algn="l">
              <a:lnSpc>
                <a:spcPts val="5359"/>
              </a:lnSpc>
            </a:pP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Selecciona un único elemento con un atributo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id</a:t>
            </a:r>
            <a:r>
              <a:rPr lang="en-US" sz="382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específico. Se define con un numeral: </a:t>
            </a:r>
            <a:r>
              <a:rPr lang="en-US" b="true" sz="382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#mi-id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715" y="2242550"/>
            <a:ext cx="14360543" cy="205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ACTIVIDAD #1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1420" y="370164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8715" y="4465914"/>
            <a:ext cx="17339449" cy="411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4"/>
              </a:lnSpc>
              <a:spcBef>
                <a:spcPct val="0"/>
              </a:spcBef>
            </a:pPr>
            <a:r>
              <a:rPr lang="en-US" sz="5033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CONSTRUYE UN PEQUEÑO SITIO WEB ( BLOG, WIKI, GALERIA DE FOTOS ) CON LA IA DE TU PREFERENCIA UTILIZANDO HTML Y CSS. LOS ESTILOS DEBEN SER EXTERNOS ES DECIR, UN ARCHIVO DE HTML Y UN ARCHIVO DE CSS.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5936" y="3239968"/>
            <a:ext cx="12403683" cy="640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 necesita saber quién es el que está escribiendo el código para firmar cada cambio (commit). Ejecuta est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os dos comandos en tu terminal (cambiando tus datos): (en CMD, PowerShell o Git Bash)</a:t>
            </a:r>
          </a:p>
          <a:p>
            <a:pPr algn="l">
              <a:lnSpc>
                <a:spcPts val="5660"/>
              </a:lnSpc>
            </a:pPr>
          </a:p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escribe: </a:t>
            </a:r>
          </a:p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 config --global user.name "Tu Nombre" </a:t>
            </a:r>
          </a:p>
          <a:p>
            <a:pPr algn="l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 config --global user.email"correo@example.com"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99957" y="1831750"/>
            <a:ext cx="10780854" cy="78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5029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CONFIGURAR GIT Y GITHUB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666877" y="6359034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357810" y="-2118491"/>
            <a:ext cx="5064114" cy="5805204"/>
          </a:xfrm>
          <a:custGeom>
            <a:avLst/>
            <a:gdLst/>
            <a:ahLst/>
            <a:cxnLst/>
            <a:rect r="r" b="b" t="t" l="l"/>
            <a:pathLst>
              <a:path h="5805204" w="5064114">
                <a:moveTo>
                  <a:pt x="0" y="0"/>
                </a:moveTo>
                <a:lnTo>
                  <a:pt x="5064114" y="0"/>
                </a:lnTo>
                <a:lnTo>
                  <a:pt x="5064114" y="5805204"/>
                </a:lnTo>
                <a:lnTo>
                  <a:pt x="0" y="580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4730" y="5537516"/>
            <a:ext cx="3859799" cy="3859799"/>
          </a:xfrm>
          <a:custGeom>
            <a:avLst/>
            <a:gdLst/>
            <a:ahLst/>
            <a:cxnLst/>
            <a:rect r="r" b="b" t="t" l="l"/>
            <a:pathLst>
              <a:path h="3859799" w="3859799">
                <a:moveTo>
                  <a:pt x="0" y="0"/>
                </a:moveTo>
                <a:lnTo>
                  <a:pt x="3859799" y="0"/>
                </a:lnTo>
                <a:lnTo>
                  <a:pt x="3859799" y="3859800"/>
                </a:lnTo>
                <a:lnTo>
                  <a:pt x="0" y="3859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591" y="2695795"/>
            <a:ext cx="3397055" cy="3397055"/>
          </a:xfrm>
          <a:custGeom>
            <a:avLst/>
            <a:gdLst/>
            <a:ahLst/>
            <a:cxnLst/>
            <a:rect r="r" b="b" t="t" l="l"/>
            <a:pathLst>
              <a:path h="3397055" w="3397055">
                <a:moveTo>
                  <a:pt x="0" y="0"/>
                </a:moveTo>
                <a:lnTo>
                  <a:pt x="3397054" y="0"/>
                </a:lnTo>
                <a:lnTo>
                  <a:pt x="3397054" y="3397055"/>
                </a:lnTo>
                <a:lnTo>
                  <a:pt x="0" y="3397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476" y="1100215"/>
            <a:ext cx="18017048" cy="876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Inicializa Git en la carpeta: git init </a:t>
            </a:r>
          </a:p>
          <a:p>
            <a:pPr algn="l">
              <a:lnSpc>
                <a:spcPts val="5380"/>
              </a:lnSpc>
            </a:pPr>
          </a:p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 un archivo de prueba (por ejemplo, puedes crear un archivo llamado index.html con cualquier texto adentro, o simplemente crearlo desde tu editor/explorador). </a:t>
            </a:r>
          </a:p>
          <a:p>
            <a:pPr algn="l">
              <a:lnSpc>
                <a:spcPts val="5380"/>
              </a:lnSpc>
            </a:pPr>
          </a:p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Revisa el estado para ver que Git detectó el archivo nuevo: git status </a:t>
            </a:r>
          </a:p>
          <a:p>
            <a:pPr algn="l">
              <a:lnSpc>
                <a:spcPts val="5380"/>
              </a:lnSpc>
            </a:pPr>
          </a:p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Manda el archivo a la "sala de espera" (Staging Area): git add . </a:t>
            </a:r>
          </a:p>
          <a:p>
            <a:pPr algn="l">
              <a:lnSpc>
                <a:spcPts val="5380"/>
              </a:lnSpc>
            </a:pPr>
          </a:p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Toma la foto oficial (Commit) con un mensaje descriptivo: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commit -m "Primer commit: mi arc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ivo inicial de pr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a" Una vez que hagas esto, ya tendrás tu historial guardado lo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40379" y="382282"/>
            <a:ext cx="10780854" cy="78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5029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CONFIGURAR GIT Y GITHUB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6105449" y="-2067377"/>
            <a:ext cx="4094150" cy="4693294"/>
          </a:xfrm>
          <a:custGeom>
            <a:avLst/>
            <a:gdLst/>
            <a:ahLst/>
            <a:cxnLst/>
            <a:rect r="r" b="b" t="t" l="l"/>
            <a:pathLst>
              <a:path h="4693294" w="4094150">
                <a:moveTo>
                  <a:pt x="0" y="0"/>
                </a:moveTo>
                <a:lnTo>
                  <a:pt x="4094150" y="0"/>
                </a:lnTo>
                <a:lnTo>
                  <a:pt x="4094150" y="4693293"/>
                </a:lnTo>
                <a:lnTo>
                  <a:pt x="0" y="469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476" y="1318668"/>
            <a:ext cx="18017048" cy="808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9684" indent="-414842" lvl="1">
              <a:lnSpc>
                <a:spcPts val="5380"/>
              </a:lnSpc>
              <a:buAutoNum type="arabicPeriod" startAt="1"/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Entra a github.com e inicia sesión.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7.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Haz clic en el botón + (arriba a la derecha) y selecciona "New repository".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8.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Ponle el mismo nombre que tiene tu carpeta local (o el que quieras).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9.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¡IMPORTANTE! Asegúrate de que el repositorio esté configurado como "Public" (o "Private" , como prefieras) y NO marques ninguna de las casillas (no crees el README, ni el .gitignore, ni la licencia). Queremos que el repositorio esté totalmente vacío al principio.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10.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Haz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lic en "Create repository".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40379" y="382282"/>
            <a:ext cx="10780854" cy="78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5029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CONFIGURAR GIT Y GITHUB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6105449" y="-2067377"/>
            <a:ext cx="4094150" cy="4693294"/>
          </a:xfrm>
          <a:custGeom>
            <a:avLst/>
            <a:gdLst/>
            <a:ahLst/>
            <a:cxnLst/>
            <a:rect r="r" b="b" t="t" l="l"/>
            <a:pathLst>
              <a:path h="4693294" w="4094150">
                <a:moveTo>
                  <a:pt x="0" y="0"/>
                </a:moveTo>
                <a:lnTo>
                  <a:pt x="4094150" y="0"/>
                </a:lnTo>
                <a:lnTo>
                  <a:pt x="4094150" y="4693293"/>
                </a:lnTo>
                <a:lnTo>
                  <a:pt x="0" y="4693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476" y="1318668"/>
            <a:ext cx="18017048" cy="876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11. GitHub te mostrará una pantalla con comandos. Copia y pega estos tres en tu terminal, uno por uno: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12.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Vincula tu carpeta local con el repositorio de la nube:(Copia la URL que aparece en la pantalla de GitHub de tu nuevo repositorio): git remote add origin https://github.com/TU_USUARIO/NOMBRE_DEL_REPO.git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13.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Renombra tu rama local a main (para que coincida con el estándar de GitHub): git branch -M main 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14. </a:t>
            </a: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Sube tus archivos a la nube: git push -u origin main</a:t>
            </a:r>
          </a:p>
          <a:p>
            <a:pPr algn="l">
              <a:lnSpc>
                <a:spcPts val="5380"/>
              </a:lnSpc>
            </a:pPr>
          </a:p>
          <a:p>
            <a:pPr algn="l">
              <a:lnSpc>
                <a:spcPts val="5380"/>
              </a:lnSpc>
            </a:pPr>
            <a:r>
              <a:rPr lang="en-US" sz="38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Posterior a eso todo tu proyecto estará alojado en la nube con github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40379" y="382282"/>
            <a:ext cx="10780854" cy="78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1"/>
              </a:lnSpc>
            </a:pPr>
            <a:r>
              <a:rPr lang="en-US" sz="5029">
                <a:solidFill>
                  <a:srgbClr val="165EA0"/>
                </a:solidFill>
                <a:latin typeface="Bugaki"/>
                <a:ea typeface="Bugaki"/>
                <a:cs typeface="Bugaki"/>
                <a:sym typeface="Bugaki"/>
              </a:rPr>
              <a:t>CONFIGURAR GIT Y GITHUB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6816405" y="-2018903"/>
            <a:ext cx="3431669" cy="3933864"/>
          </a:xfrm>
          <a:custGeom>
            <a:avLst/>
            <a:gdLst/>
            <a:ahLst/>
            <a:cxnLst/>
            <a:rect r="r" b="b" t="t" l="l"/>
            <a:pathLst>
              <a:path h="3933864" w="3431669">
                <a:moveTo>
                  <a:pt x="0" y="0"/>
                </a:moveTo>
                <a:lnTo>
                  <a:pt x="3431668" y="0"/>
                </a:lnTo>
                <a:lnTo>
                  <a:pt x="3431668" y="3933864"/>
                </a:lnTo>
                <a:lnTo>
                  <a:pt x="0" y="393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5E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3674" y="4087147"/>
            <a:ext cx="11520653" cy="205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788"/>
              </a:lnSpc>
              <a:spcBef>
                <a:spcPct val="0"/>
              </a:spcBef>
            </a:pPr>
            <a:r>
              <a:rPr lang="en-US" sz="13131">
                <a:solidFill>
                  <a:srgbClr val="FFFFFF"/>
                </a:solidFill>
                <a:latin typeface="Bugaki"/>
                <a:ea typeface="Bugaki"/>
                <a:cs typeface="Bugaki"/>
                <a:sym typeface="Bugaki"/>
              </a:rPr>
              <a:t>¡GRACIAS!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441420" y="370164"/>
            <a:ext cx="3589506" cy="4114800"/>
          </a:xfrm>
          <a:custGeom>
            <a:avLst/>
            <a:gdLst/>
            <a:ahLst/>
            <a:cxnLst/>
            <a:rect r="r" b="b" t="t" l="l"/>
            <a:pathLst>
              <a:path h="4114800" w="3589506">
                <a:moveTo>
                  <a:pt x="0" y="0"/>
                </a:moveTo>
                <a:lnTo>
                  <a:pt x="3589507" y="0"/>
                </a:lnTo>
                <a:lnTo>
                  <a:pt x="35895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744" y="6328726"/>
            <a:ext cx="4079910" cy="3619993"/>
          </a:xfrm>
          <a:custGeom>
            <a:avLst/>
            <a:gdLst/>
            <a:ahLst/>
            <a:cxnLst/>
            <a:rect r="r" b="b" t="t" l="l"/>
            <a:pathLst>
              <a:path h="3619993" w="4079910">
                <a:moveTo>
                  <a:pt x="0" y="0"/>
                </a:moveTo>
                <a:lnTo>
                  <a:pt x="4079910" y="0"/>
                </a:lnTo>
                <a:lnTo>
                  <a:pt x="4079910" y="3619994"/>
                </a:lnTo>
                <a:lnTo>
                  <a:pt x="0" y="3619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DAHToR4OCTQ</dc:identifier>
  <dcterms:modified xsi:type="dcterms:W3CDTF">2011-08-01T06:04:30Z</dcterms:modified>
  <cp:revision>1</cp:revision>
  <dc:title>Presentación Curso Online Orgánico Azul y Blanco</dc:title>
</cp:coreProperties>
</file>