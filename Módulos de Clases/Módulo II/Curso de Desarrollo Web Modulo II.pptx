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Poly" charset="1" panose="02040503050400000004"/>
      <p:regular r:id="rId28"/>
    </p:embeddedFont>
    <p:embeddedFont>
      <p:font typeface="DM Sans" charset="1" panose="00000000000000000000"/>
      <p:regular r:id="rId29"/>
    </p:embeddedFont>
    <p:embeddedFont>
      <p:font typeface="Bugaki" charset="1" panose="00000000000000000000"/>
      <p:regular r:id="rId30"/>
    </p:embeddedFont>
    <p:embeddedFont>
      <p:font typeface="DM Sans Bold" charset="1" panose="00000000000000000000"/>
      <p:regular r:id="rId31"/>
    </p:embeddedFont>
    <p:embeddedFont>
      <p:font typeface="DM Sans Italics" charset="1" panose="00000000000000000000"/>
      <p:regular r:id="rId32"/>
    </p:embeddedFont>
    <p:embeddedFont>
      <p:font typeface="Open Sans Bold" charset="1" panose="020B080603050402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ithub.com/SamuelCubano/Desarrollo-Web-Superatec/tree/main/M%C3%B3dulos%20de%20Clases/M%C3%B3dulo%20II" TargetMode="External" Type="http://schemas.openxmlformats.org/officeDocument/2006/relationships/hyperlink"/><Relationship Id="rId11" Target="https://github.com/SamuelCubano/Desarrollo-Web-Superatec/tree/main/M%C3%B3dulos%20de%20Clases/M%C3%B3dulo%20II/Examples" TargetMode="External" Type="http://schemas.openxmlformats.org/officeDocument/2006/relationships/hyperlink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https://github.com/SamuelCubano/Desarrollo-Web-Superatec/tree/main" TargetMode="External" Type="http://schemas.openxmlformats.org/officeDocument/2006/relationships/hyperlink"/><Relationship Id="rId9" Target="https://github.com/SamuelCubano/Desarrollo-Web-Superatec/tree/main/M%C3%B3dulos%20de%20Clases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3.pn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4386471" y="5638104"/>
            <a:ext cx="6004836" cy="6883592"/>
          </a:xfrm>
          <a:custGeom>
            <a:avLst/>
            <a:gdLst/>
            <a:ahLst/>
            <a:cxnLst/>
            <a:rect r="r" b="b" t="t" l="l"/>
            <a:pathLst>
              <a:path h="6883592" w="6004836">
                <a:moveTo>
                  <a:pt x="6004836" y="0"/>
                </a:moveTo>
                <a:lnTo>
                  <a:pt x="0" y="0"/>
                </a:lnTo>
                <a:lnTo>
                  <a:pt x="0" y="6883593"/>
                </a:lnTo>
                <a:lnTo>
                  <a:pt x="6004836" y="6883593"/>
                </a:lnTo>
                <a:lnTo>
                  <a:pt x="600483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-1547244" y="-2193687"/>
            <a:ext cx="6004836" cy="6883592"/>
          </a:xfrm>
          <a:custGeom>
            <a:avLst/>
            <a:gdLst/>
            <a:ahLst/>
            <a:cxnLst/>
            <a:rect r="r" b="b" t="t" l="l"/>
            <a:pathLst>
              <a:path h="6883592" w="6004836">
                <a:moveTo>
                  <a:pt x="0" y="6883592"/>
                </a:moveTo>
                <a:lnTo>
                  <a:pt x="6004836" y="6883592"/>
                </a:lnTo>
                <a:lnTo>
                  <a:pt x="6004836" y="0"/>
                </a:lnTo>
                <a:lnTo>
                  <a:pt x="0" y="0"/>
                </a:lnTo>
                <a:lnTo>
                  <a:pt x="0" y="688359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06999" y="101941"/>
            <a:ext cx="4148586" cy="4148586"/>
          </a:xfrm>
          <a:custGeom>
            <a:avLst/>
            <a:gdLst/>
            <a:ahLst/>
            <a:cxnLst/>
            <a:rect r="r" b="b" t="t" l="l"/>
            <a:pathLst>
              <a:path h="4148586" w="4148586">
                <a:moveTo>
                  <a:pt x="0" y="0"/>
                </a:moveTo>
                <a:lnTo>
                  <a:pt x="4148586" y="0"/>
                </a:lnTo>
                <a:lnTo>
                  <a:pt x="4148586" y="4148586"/>
                </a:lnTo>
                <a:lnTo>
                  <a:pt x="0" y="4148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18541" y="6591279"/>
            <a:ext cx="3250917" cy="3250917"/>
          </a:xfrm>
          <a:custGeom>
            <a:avLst/>
            <a:gdLst/>
            <a:ahLst/>
            <a:cxnLst/>
            <a:rect r="r" b="b" t="t" l="l"/>
            <a:pathLst>
              <a:path h="3250917" w="3250917">
                <a:moveTo>
                  <a:pt x="0" y="0"/>
                </a:moveTo>
                <a:lnTo>
                  <a:pt x="3250918" y="0"/>
                </a:lnTo>
                <a:lnTo>
                  <a:pt x="3250918" y="3250918"/>
                </a:lnTo>
                <a:lnTo>
                  <a:pt x="0" y="32509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4133538" y="4079077"/>
            <a:ext cx="10020923" cy="1413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15"/>
              </a:lnSpc>
              <a:spcBef>
                <a:spcPct val="0"/>
              </a:spcBef>
            </a:pPr>
            <a:r>
              <a:rPr lang="en-US" sz="8154">
                <a:solidFill>
                  <a:srgbClr val="165EA0"/>
                </a:solidFill>
                <a:latin typeface="Poly"/>
                <a:ea typeface="Poly"/>
                <a:cs typeface="Poly"/>
                <a:sym typeface="Poly"/>
              </a:rPr>
              <a:t>DESARROLLO WEB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33538" y="3317818"/>
            <a:ext cx="10020923" cy="687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75"/>
              </a:lnSpc>
              <a:spcBef>
                <a:spcPct val="0"/>
              </a:spcBef>
            </a:pPr>
            <a:r>
              <a:rPr lang="en-US" sz="4054">
                <a:solidFill>
                  <a:srgbClr val="165EA0"/>
                </a:solidFill>
                <a:latin typeface="Poly"/>
                <a:ea typeface="Poly"/>
                <a:cs typeface="Poly"/>
                <a:sym typeface="Poly"/>
              </a:rPr>
              <a:t>MÓDULO</a:t>
            </a:r>
            <a:r>
              <a:rPr lang="en-US" sz="4054">
                <a:solidFill>
                  <a:srgbClr val="165EA0"/>
                </a:solidFill>
                <a:latin typeface="Poly"/>
                <a:ea typeface="Poly"/>
                <a:cs typeface="Poly"/>
                <a:sym typeface="Poly"/>
              </a:rPr>
              <a:t> II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81818" y="5467195"/>
            <a:ext cx="7189363" cy="7268658"/>
          </a:xfrm>
          <a:custGeom>
            <a:avLst/>
            <a:gdLst/>
            <a:ahLst/>
            <a:cxnLst/>
            <a:rect r="r" b="b" t="t" l="l"/>
            <a:pathLst>
              <a:path h="7268658" w="7189363">
                <a:moveTo>
                  <a:pt x="0" y="0"/>
                </a:moveTo>
                <a:lnTo>
                  <a:pt x="7189364" y="0"/>
                </a:lnTo>
                <a:lnTo>
                  <a:pt x="7189364" y="7268657"/>
                </a:lnTo>
                <a:lnTo>
                  <a:pt x="0" y="7268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9163889">
            <a:off x="-1319133" y="-1423425"/>
            <a:ext cx="4037647" cy="3538447"/>
          </a:xfrm>
          <a:custGeom>
            <a:avLst/>
            <a:gdLst/>
            <a:ahLst/>
            <a:cxnLst/>
            <a:rect r="r" b="b" t="t" l="l"/>
            <a:pathLst>
              <a:path h="3538447" w="4037647">
                <a:moveTo>
                  <a:pt x="0" y="0"/>
                </a:moveTo>
                <a:lnTo>
                  <a:pt x="4037646" y="0"/>
                </a:lnTo>
                <a:lnTo>
                  <a:pt x="4037646" y="3538446"/>
                </a:lnTo>
                <a:lnTo>
                  <a:pt x="0" y="3538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64880" y="4926862"/>
            <a:ext cx="8037695" cy="5360138"/>
          </a:xfrm>
          <a:custGeom>
            <a:avLst/>
            <a:gdLst/>
            <a:ahLst/>
            <a:cxnLst/>
            <a:rect r="r" b="b" t="t" l="l"/>
            <a:pathLst>
              <a:path h="5360138" w="8037695">
                <a:moveTo>
                  <a:pt x="0" y="0"/>
                </a:moveTo>
                <a:lnTo>
                  <a:pt x="8037695" y="0"/>
                </a:lnTo>
                <a:lnTo>
                  <a:pt x="8037695" y="5360138"/>
                </a:lnTo>
                <a:lnTo>
                  <a:pt x="0" y="53601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12303" y="5143500"/>
            <a:ext cx="8466136" cy="4762202"/>
          </a:xfrm>
          <a:custGeom>
            <a:avLst/>
            <a:gdLst/>
            <a:ahLst/>
            <a:cxnLst/>
            <a:rect r="r" b="b" t="t" l="l"/>
            <a:pathLst>
              <a:path h="4762202" w="8466136">
                <a:moveTo>
                  <a:pt x="0" y="0"/>
                </a:moveTo>
                <a:lnTo>
                  <a:pt x="8466137" y="0"/>
                </a:lnTo>
                <a:lnTo>
                  <a:pt x="8466137" y="4762202"/>
                </a:lnTo>
                <a:lnTo>
                  <a:pt x="0" y="47622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188403"/>
            <a:ext cx="16628595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</a:t>
            </a: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avaScript es un lenguaje de programación que se utiliza para crear contenido interactivo y dinámico en las páginas web.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149890"/>
            <a:ext cx="16747751" cy="943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1"/>
              </a:lnSpc>
            </a:pPr>
            <a:r>
              <a:rPr lang="en-US" sz="6030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¿ QUÉ ES EL JAVASCRIPT?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318571">
            <a:off x="12483482" y="7289732"/>
            <a:ext cx="2145681" cy="2459683"/>
          </a:xfrm>
          <a:custGeom>
            <a:avLst/>
            <a:gdLst/>
            <a:ahLst/>
            <a:cxnLst/>
            <a:rect r="r" b="b" t="t" l="l"/>
            <a:pathLst>
              <a:path h="2459683" w="2145681">
                <a:moveTo>
                  <a:pt x="0" y="0"/>
                </a:moveTo>
                <a:lnTo>
                  <a:pt x="2145681" y="0"/>
                </a:lnTo>
                <a:lnTo>
                  <a:pt x="2145681" y="2459683"/>
                </a:lnTo>
                <a:lnTo>
                  <a:pt x="0" y="2459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00117" y="6044899"/>
            <a:ext cx="6442407" cy="6513463"/>
          </a:xfrm>
          <a:custGeom>
            <a:avLst/>
            <a:gdLst/>
            <a:ahLst/>
            <a:cxnLst/>
            <a:rect r="r" b="b" t="t" l="l"/>
            <a:pathLst>
              <a:path h="6513463" w="6442407">
                <a:moveTo>
                  <a:pt x="0" y="0"/>
                </a:moveTo>
                <a:lnTo>
                  <a:pt x="6442408" y="0"/>
                </a:lnTo>
                <a:lnTo>
                  <a:pt x="6442408" y="6513464"/>
                </a:lnTo>
                <a:lnTo>
                  <a:pt x="0" y="651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-1077540" y="7994430"/>
            <a:ext cx="3086503" cy="3538186"/>
          </a:xfrm>
          <a:custGeom>
            <a:avLst/>
            <a:gdLst/>
            <a:ahLst/>
            <a:cxnLst/>
            <a:rect r="r" b="b" t="t" l="l"/>
            <a:pathLst>
              <a:path h="3538186" w="3086503">
                <a:moveTo>
                  <a:pt x="0" y="0"/>
                </a:moveTo>
                <a:lnTo>
                  <a:pt x="3086503" y="0"/>
                </a:lnTo>
                <a:lnTo>
                  <a:pt x="3086503" y="3538186"/>
                </a:lnTo>
                <a:lnTo>
                  <a:pt x="0" y="3538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05542" y="5995498"/>
            <a:ext cx="3250917" cy="3250917"/>
          </a:xfrm>
          <a:custGeom>
            <a:avLst/>
            <a:gdLst/>
            <a:ahLst/>
            <a:cxnLst/>
            <a:rect r="r" b="b" t="t" l="l"/>
            <a:pathLst>
              <a:path h="3250917" w="3250917">
                <a:moveTo>
                  <a:pt x="0" y="0"/>
                </a:moveTo>
                <a:lnTo>
                  <a:pt x="3250917" y="0"/>
                </a:lnTo>
                <a:lnTo>
                  <a:pt x="3250917" y="3250917"/>
                </a:lnTo>
                <a:lnTo>
                  <a:pt x="0" y="3250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013205" y="822016"/>
            <a:ext cx="8274795" cy="10291776"/>
          </a:xfrm>
          <a:custGeom>
            <a:avLst/>
            <a:gdLst/>
            <a:ahLst/>
            <a:cxnLst/>
            <a:rect r="r" b="b" t="t" l="l"/>
            <a:pathLst>
              <a:path h="10291776" w="8274795">
                <a:moveTo>
                  <a:pt x="0" y="0"/>
                </a:moveTo>
                <a:lnTo>
                  <a:pt x="8274795" y="0"/>
                </a:lnTo>
                <a:lnTo>
                  <a:pt x="8274795" y="10291777"/>
                </a:lnTo>
                <a:lnTo>
                  <a:pt x="0" y="102917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375309"/>
            <a:ext cx="8488696" cy="368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JavaScript si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rve para dar comportamiento y dinamismo a las páginas web, per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endo que respondan a las acciones del usuario en tiempo real.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41655"/>
            <a:ext cx="16230600" cy="74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4"/>
              </a:lnSpc>
            </a:pPr>
            <a:r>
              <a:rPr lang="en-US" sz="47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¿PARA QUÉ SIRVE JAVASCRIPT?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318571">
            <a:off x="12483482" y="7289732"/>
            <a:ext cx="2145681" cy="2459683"/>
          </a:xfrm>
          <a:custGeom>
            <a:avLst/>
            <a:gdLst/>
            <a:ahLst/>
            <a:cxnLst/>
            <a:rect r="r" b="b" t="t" l="l"/>
            <a:pathLst>
              <a:path h="2459683" w="2145681">
                <a:moveTo>
                  <a:pt x="0" y="0"/>
                </a:moveTo>
                <a:lnTo>
                  <a:pt x="2145681" y="0"/>
                </a:lnTo>
                <a:lnTo>
                  <a:pt x="2145681" y="2459683"/>
                </a:lnTo>
                <a:lnTo>
                  <a:pt x="0" y="2459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00117" y="6044899"/>
            <a:ext cx="6442407" cy="6513463"/>
          </a:xfrm>
          <a:custGeom>
            <a:avLst/>
            <a:gdLst/>
            <a:ahLst/>
            <a:cxnLst/>
            <a:rect r="r" b="b" t="t" l="l"/>
            <a:pathLst>
              <a:path h="6513463" w="6442407">
                <a:moveTo>
                  <a:pt x="0" y="0"/>
                </a:moveTo>
                <a:lnTo>
                  <a:pt x="6442408" y="0"/>
                </a:lnTo>
                <a:lnTo>
                  <a:pt x="6442408" y="6513464"/>
                </a:lnTo>
                <a:lnTo>
                  <a:pt x="0" y="651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-1077540" y="7994430"/>
            <a:ext cx="3086503" cy="3538186"/>
          </a:xfrm>
          <a:custGeom>
            <a:avLst/>
            <a:gdLst/>
            <a:ahLst/>
            <a:cxnLst/>
            <a:rect r="r" b="b" t="t" l="l"/>
            <a:pathLst>
              <a:path h="3538186" w="3086503">
                <a:moveTo>
                  <a:pt x="0" y="0"/>
                </a:moveTo>
                <a:lnTo>
                  <a:pt x="3086503" y="0"/>
                </a:lnTo>
                <a:lnTo>
                  <a:pt x="3086503" y="3538186"/>
                </a:lnTo>
                <a:lnTo>
                  <a:pt x="0" y="3538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7237" y="1009650"/>
            <a:ext cx="16230600" cy="74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4"/>
              </a:lnSpc>
            </a:pPr>
            <a:r>
              <a:rPr lang="en-US" sz="47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¿QUÉ ES DOM EN JS?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008383" y="1028700"/>
            <a:ext cx="3250917" cy="3250917"/>
          </a:xfrm>
          <a:custGeom>
            <a:avLst/>
            <a:gdLst/>
            <a:ahLst/>
            <a:cxnLst/>
            <a:rect r="r" b="b" t="t" l="l"/>
            <a:pathLst>
              <a:path h="3250917" w="3250917">
                <a:moveTo>
                  <a:pt x="0" y="0"/>
                </a:moveTo>
                <a:lnTo>
                  <a:pt x="3250917" y="0"/>
                </a:lnTo>
                <a:lnTo>
                  <a:pt x="3250917" y="3250917"/>
                </a:lnTo>
                <a:lnTo>
                  <a:pt x="0" y="3250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2040023" y="5302323"/>
            <a:ext cx="7931023" cy="4461200"/>
          </a:xfrm>
          <a:custGeom>
            <a:avLst/>
            <a:gdLst/>
            <a:ahLst/>
            <a:cxnLst/>
            <a:rect r="r" b="b" t="t" l="l"/>
            <a:pathLst>
              <a:path h="4461200" w="7931023">
                <a:moveTo>
                  <a:pt x="0" y="0"/>
                </a:moveTo>
                <a:lnTo>
                  <a:pt x="7931022" y="0"/>
                </a:lnTo>
                <a:lnTo>
                  <a:pt x="7931022" y="4461200"/>
                </a:lnTo>
                <a:lnTo>
                  <a:pt x="0" y="4461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71945" y="5522161"/>
            <a:ext cx="7149377" cy="4021524"/>
          </a:xfrm>
          <a:custGeom>
            <a:avLst/>
            <a:gdLst/>
            <a:ahLst/>
            <a:cxnLst/>
            <a:rect r="r" b="b" t="t" l="l"/>
            <a:pathLst>
              <a:path h="4021524" w="7149377">
                <a:moveTo>
                  <a:pt x="0" y="0"/>
                </a:moveTo>
                <a:lnTo>
                  <a:pt x="7149376" y="0"/>
                </a:lnTo>
                <a:lnTo>
                  <a:pt x="7149376" y="4021524"/>
                </a:lnTo>
                <a:lnTo>
                  <a:pt x="0" y="40215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948175"/>
            <a:ext cx="12219007" cy="294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DOM (Documen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 Obje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ct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Model o Modelo de Objetos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del D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ocumento) es la estructura interna en forma de árbol que crea el navegador web cuando carga una página HTML.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607741" y="895350"/>
            <a:ext cx="12794722" cy="104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8"/>
              </a:lnSpc>
            </a:pPr>
            <a:r>
              <a:rPr lang="en-US" sz="60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JS: FUNDAMENTOS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400000">
            <a:off x="13717006" y="-2697510"/>
            <a:ext cx="6320399" cy="5607918"/>
          </a:xfrm>
          <a:custGeom>
            <a:avLst/>
            <a:gdLst/>
            <a:ahLst/>
            <a:cxnLst/>
            <a:rect r="r" b="b" t="t" l="l"/>
            <a:pathLst>
              <a:path h="5607918" w="6320399">
                <a:moveTo>
                  <a:pt x="0" y="0"/>
                </a:moveTo>
                <a:lnTo>
                  <a:pt x="6320399" y="0"/>
                </a:lnTo>
                <a:lnTo>
                  <a:pt x="6320399" y="5607917"/>
                </a:lnTo>
                <a:lnTo>
                  <a:pt x="0" y="5607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025953" y="597126"/>
            <a:ext cx="2228557" cy="2403345"/>
          </a:xfrm>
          <a:custGeom>
            <a:avLst/>
            <a:gdLst/>
            <a:ahLst/>
            <a:cxnLst/>
            <a:rect r="r" b="b" t="t" l="l"/>
            <a:pathLst>
              <a:path h="2403345" w="2228557">
                <a:moveTo>
                  <a:pt x="0" y="0"/>
                </a:moveTo>
                <a:lnTo>
                  <a:pt x="2228556" y="0"/>
                </a:lnTo>
                <a:lnTo>
                  <a:pt x="2228556" y="2403345"/>
                </a:lnTo>
                <a:lnTo>
                  <a:pt x="0" y="2403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322576" y="1983582"/>
            <a:ext cx="10934089" cy="140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0"/>
              </a:lnSpc>
            </a:pP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Conoce la estructura básica que </a:t>
            </a: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toda página web necesita para existir.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379137" y="4329266"/>
            <a:ext cx="4571566" cy="4571566"/>
          </a:xfrm>
          <a:custGeom>
            <a:avLst/>
            <a:gdLst/>
            <a:ahLst/>
            <a:cxnLst/>
            <a:rect r="r" b="b" t="t" l="l"/>
            <a:pathLst>
              <a:path h="4571566" w="4571566">
                <a:moveTo>
                  <a:pt x="0" y="0"/>
                </a:moveTo>
                <a:lnTo>
                  <a:pt x="4571566" y="0"/>
                </a:lnTo>
                <a:lnTo>
                  <a:pt x="4571566" y="4571565"/>
                </a:lnTo>
                <a:lnTo>
                  <a:pt x="0" y="45715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193023" y="3643472"/>
            <a:ext cx="8909667" cy="5943153"/>
          </a:xfrm>
          <a:custGeom>
            <a:avLst/>
            <a:gdLst/>
            <a:ahLst/>
            <a:cxnLst/>
            <a:rect r="r" b="b" t="t" l="l"/>
            <a:pathLst>
              <a:path h="5943153" w="8909667">
                <a:moveTo>
                  <a:pt x="0" y="0"/>
                </a:moveTo>
                <a:lnTo>
                  <a:pt x="8909667" y="0"/>
                </a:lnTo>
                <a:lnTo>
                  <a:pt x="8909667" y="5943153"/>
                </a:lnTo>
                <a:lnTo>
                  <a:pt x="0" y="59431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3717006" y="-2697510"/>
            <a:ext cx="6320399" cy="5607918"/>
          </a:xfrm>
          <a:custGeom>
            <a:avLst/>
            <a:gdLst/>
            <a:ahLst/>
            <a:cxnLst/>
            <a:rect r="r" b="b" t="t" l="l"/>
            <a:pathLst>
              <a:path h="5607918" w="6320399">
                <a:moveTo>
                  <a:pt x="0" y="0"/>
                </a:moveTo>
                <a:lnTo>
                  <a:pt x="6320399" y="0"/>
                </a:lnTo>
                <a:lnTo>
                  <a:pt x="6320399" y="5607917"/>
                </a:lnTo>
                <a:lnTo>
                  <a:pt x="0" y="5607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025953" y="597126"/>
            <a:ext cx="2228557" cy="2403345"/>
          </a:xfrm>
          <a:custGeom>
            <a:avLst/>
            <a:gdLst/>
            <a:ahLst/>
            <a:cxnLst/>
            <a:rect r="r" b="b" t="t" l="l"/>
            <a:pathLst>
              <a:path h="2403345" w="2228557">
                <a:moveTo>
                  <a:pt x="0" y="0"/>
                </a:moveTo>
                <a:lnTo>
                  <a:pt x="2228556" y="0"/>
                </a:lnTo>
                <a:lnTo>
                  <a:pt x="2228556" y="2403345"/>
                </a:lnTo>
                <a:lnTo>
                  <a:pt x="0" y="2403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42435" y="657038"/>
            <a:ext cx="10510894" cy="198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8"/>
              </a:lnSpc>
            </a:pPr>
            <a:r>
              <a:rPr lang="en-US" sz="60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SINTAXIS BÁSICA DE JAVASCRIPT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1029" y="3043428"/>
            <a:ext cx="12860448" cy="762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Variables y Tipos de Datos: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Contenedores para almacenar información (let para variables que cambian, const para valores fijos) y los tipos básicos: strings (textos), números, booleanos (true/false), arrays (arreglos/listas) y objetos.</a:t>
            </a:r>
          </a:p>
          <a:p>
            <a:pPr algn="l">
              <a:lnSpc>
                <a:spcPts val="5520"/>
              </a:lnSpc>
            </a:pPr>
          </a:p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Operadores: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Símbolos para realizar operaciones aritméticas (+, -, *, /), de asignación (=) y de comparación (==, ===, &lt;, &gt;, !==) para evaluar condiciones.</a:t>
            </a:r>
          </a:p>
          <a:p>
            <a:pPr algn="l">
              <a:lnSpc>
                <a:spcPts val="552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626289" y="4431573"/>
            <a:ext cx="3250917" cy="3250917"/>
          </a:xfrm>
          <a:custGeom>
            <a:avLst/>
            <a:gdLst/>
            <a:ahLst/>
            <a:cxnLst/>
            <a:rect r="r" b="b" t="t" l="l"/>
            <a:pathLst>
              <a:path h="3250917" w="3250917">
                <a:moveTo>
                  <a:pt x="0" y="0"/>
                </a:moveTo>
                <a:lnTo>
                  <a:pt x="3250917" y="0"/>
                </a:lnTo>
                <a:lnTo>
                  <a:pt x="3250917" y="3250917"/>
                </a:lnTo>
                <a:lnTo>
                  <a:pt x="0" y="3250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3717006" y="-2697510"/>
            <a:ext cx="6320399" cy="5607918"/>
          </a:xfrm>
          <a:custGeom>
            <a:avLst/>
            <a:gdLst/>
            <a:ahLst/>
            <a:cxnLst/>
            <a:rect r="r" b="b" t="t" l="l"/>
            <a:pathLst>
              <a:path h="5607918" w="6320399">
                <a:moveTo>
                  <a:pt x="0" y="0"/>
                </a:moveTo>
                <a:lnTo>
                  <a:pt x="6320399" y="0"/>
                </a:lnTo>
                <a:lnTo>
                  <a:pt x="6320399" y="5607917"/>
                </a:lnTo>
                <a:lnTo>
                  <a:pt x="0" y="5607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025953" y="597126"/>
            <a:ext cx="2228557" cy="2403345"/>
          </a:xfrm>
          <a:custGeom>
            <a:avLst/>
            <a:gdLst/>
            <a:ahLst/>
            <a:cxnLst/>
            <a:rect r="r" b="b" t="t" l="l"/>
            <a:pathLst>
              <a:path h="2403345" w="2228557">
                <a:moveTo>
                  <a:pt x="0" y="0"/>
                </a:moveTo>
                <a:lnTo>
                  <a:pt x="2228556" y="0"/>
                </a:lnTo>
                <a:lnTo>
                  <a:pt x="2228556" y="2403345"/>
                </a:lnTo>
                <a:lnTo>
                  <a:pt x="0" y="2403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42435" y="657038"/>
            <a:ext cx="10510894" cy="198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8"/>
              </a:lnSpc>
            </a:pPr>
            <a:r>
              <a:rPr lang="en-US" sz="60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SINTAXIS BÁSICA DE JAVASCRIPT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1029" y="3043428"/>
            <a:ext cx="12860448" cy="762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Estructuras de Control (Condicionales):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Instrucciones como if, else if y else que permiten al código tomar decisiones lógicas según si una condición es verdadera o falsa.</a:t>
            </a:r>
          </a:p>
          <a:p>
            <a:pPr algn="l">
              <a:lnSpc>
                <a:spcPts val="5520"/>
              </a:lnSpc>
            </a:pPr>
          </a:p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Funciones: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Bloques de código reutilizables diseñados para realizar una tarea específica; se declaran con la palabra clave function o como funciones flecha (() =&gt; {}) y pueden recibir parámetros y devolver valores.</a:t>
            </a:r>
          </a:p>
          <a:p>
            <a:pPr algn="l">
              <a:lnSpc>
                <a:spcPts val="552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626289" y="4431573"/>
            <a:ext cx="3250917" cy="3250917"/>
          </a:xfrm>
          <a:custGeom>
            <a:avLst/>
            <a:gdLst/>
            <a:ahLst/>
            <a:cxnLst/>
            <a:rect r="r" b="b" t="t" l="l"/>
            <a:pathLst>
              <a:path h="3250917" w="3250917">
                <a:moveTo>
                  <a:pt x="0" y="0"/>
                </a:moveTo>
                <a:lnTo>
                  <a:pt x="3250917" y="0"/>
                </a:lnTo>
                <a:lnTo>
                  <a:pt x="3250917" y="3250917"/>
                </a:lnTo>
                <a:lnTo>
                  <a:pt x="0" y="3250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3717006" y="-2697510"/>
            <a:ext cx="6320399" cy="5607918"/>
          </a:xfrm>
          <a:custGeom>
            <a:avLst/>
            <a:gdLst/>
            <a:ahLst/>
            <a:cxnLst/>
            <a:rect r="r" b="b" t="t" l="l"/>
            <a:pathLst>
              <a:path h="5607918" w="6320399">
                <a:moveTo>
                  <a:pt x="0" y="0"/>
                </a:moveTo>
                <a:lnTo>
                  <a:pt x="6320399" y="0"/>
                </a:lnTo>
                <a:lnTo>
                  <a:pt x="6320399" y="5607917"/>
                </a:lnTo>
                <a:lnTo>
                  <a:pt x="0" y="5607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025953" y="597126"/>
            <a:ext cx="2228557" cy="2403345"/>
          </a:xfrm>
          <a:custGeom>
            <a:avLst/>
            <a:gdLst/>
            <a:ahLst/>
            <a:cxnLst/>
            <a:rect r="r" b="b" t="t" l="l"/>
            <a:pathLst>
              <a:path h="2403345" w="2228557">
                <a:moveTo>
                  <a:pt x="0" y="0"/>
                </a:moveTo>
                <a:lnTo>
                  <a:pt x="2228556" y="0"/>
                </a:lnTo>
                <a:lnTo>
                  <a:pt x="2228556" y="2403345"/>
                </a:lnTo>
                <a:lnTo>
                  <a:pt x="0" y="2403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42435" y="657038"/>
            <a:ext cx="10510894" cy="198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8"/>
              </a:lnSpc>
            </a:pPr>
            <a:r>
              <a:rPr lang="en-US" sz="60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SINTAXIS BÁSICA DE JAVASCRIPT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1029" y="3043428"/>
            <a:ext cx="12860448" cy="623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Ámbito (Scope): 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Las reglas que determinan la visibilidad y accesibilidad de las variables según dónde hayan sido declaradas (ámbito global o local)</a:t>
            </a: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.</a:t>
            </a:r>
          </a:p>
          <a:p>
            <a:pPr algn="l">
              <a:lnSpc>
                <a:spcPts val="5520"/>
              </a:lnSpc>
            </a:pPr>
          </a:p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Arreglos (Arrays):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Listas ordenadas que permiten almacenar múltiples elementos en una sola variable, facilitando su manejo mediante índices numéricos y propiedades como .length.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626289" y="4431573"/>
            <a:ext cx="3250917" cy="3250917"/>
          </a:xfrm>
          <a:custGeom>
            <a:avLst/>
            <a:gdLst/>
            <a:ahLst/>
            <a:cxnLst/>
            <a:rect r="r" b="b" t="t" l="l"/>
            <a:pathLst>
              <a:path h="3250917" w="3250917">
                <a:moveTo>
                  <a:pt x="0" y="0"/>
                </a:moveTo>
                <a:lnTo>
                  <a:pt x="3250917" y="0"/>
                </a:lnTo>
                <a:lnTo>
                  <a:pt x="3250917" y="3250917"/>
                </a:lnTo>
                <a:lnTo>
                  <a:pt x="0" y="3250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3717006" y="-2697510"/>
            <a:ext cx="6320399" cy="5607918"/>
          </a:xfrm>
          <a:custGeom>
            <a:avLst/>
            <a:gdLst/>
            <a:ahLst/>
            <a:cxnLst/>
            <a:rect r="r" b="b" t="t" l="l"/>
            <a:pathLst>
              <a:path h="5607918" w="6320399">
                <a:moveTo>
                  <a:pt x="0" y="0"/>
                </a:moveTo>
                <a:lnTo>
                  <a:pt x="6320399" y="0"/>
                </a:lnTo>
                <a:lnTo>
                  <a:pt x="6320399" y="5607917"/>
                </a:lnTo>
                <a:lnTo>
                  <a:pt x="0" y="5607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025953" y="597126"/>
            <a:ext cx="2228557" cy="2403345"/>
          </a:xfrm>
          <a:custGeom>
            <a:avLst/>
            <a:gdLst/>
            <a:ahLst/>
            <a:cxnLst/>
            <a:rect r="r" b="b" t="t" l="l"/>
            <a:pathLst>
              <a:path h="2403345" w="2228557">
                <a:moveTo>
                  <a:pt x="0" y="0"/>
                </a:moveTo>
                <a:lnTo>
                  <a:pt x="2228556" y="0"/>
                </a:lnTo>
                <a:lnTo>
                  <a:pt x="2228556" y="2403345"/>
                </a:lnTo>
                <a:lnTo>
                  <a:pt x="0" y="2403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42435" y="657038"/>
            <a:ext cx="10510894" cy="198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8"/>
              </a:lnSpc>
            </a:pPr>
            <a:r>
              <a:rPr lang="en-US" sz="60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SINTAXIS BÁSICA DE JAVASCRIPT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1029" y="3043428"/>
            <a:ext cx="12860448" cy="692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Bucles o Ciclos (Loops):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Estructuras como for y while que permiten repetir un bloque de código de forma automática, ahorrando escribir líneas duplicadas.</a:t>
            </a:r>
          </a:p>
          <a:p>
            <a:pPr algn="l">
              <a:lnSpc>
                <a:spcPts val="5520"/>
              </a:lnSpc>
            </a:pPr>
          </a:p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Métodos Nativos: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Funciones ya integradas en JavaScript para manipular texto (como .toUpperCase() o .slice()) y arreglos (como .push(), .filter() o .map()) de forma rápida.</a:t>
            </a:r>
          </a:p>
          <a:p>
            <a:pPr algn="l">
              <a:lnSpc>
                <a:spcPts val="552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626289" y="4431573"/>
            <a:ext cx="3250917" cy="3250917"/>
          </a:xfrm>
          <a:custGeom>
            <a:avLst/>
            <a:gdLst/>
            <a:ahLst/>
            <a:cxnLst/>
            <a:rect r="r" b="b" t="t" l="l"/>
            <a:pathLst>
              <a:path h="3250917" w="3250917">
                <a:moveTo>
                  <a:pt x="0" y="0"/>
                </a:moveTo>
                <a:lnTo>
                  <a:pt x="3250917" y="0"/>
                </a:lnTo>
                <a:lnTo>
                  <a:pt x="3250917" y="3250917"/>
                </a:lnTo>
                <a:lnTo>
                  <a:pt x="0" y="3250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3717006" y="-2697510"/>
            <a:ext cx="6320399" cy="5607918"/>
          </a:xfrm>
          <a:custGeom>
            <a:avLst/>
            <a:gdLst/>
            <a:ahLst/>
            <a:cxnLst/>
            <a:rect r="r" b="b" t="t" l="l"/>
            <a:pathLst>
              <a:path h="5607918" w="6320399">
                <a:moveTo>
                  <a:pt x="0" y="0"/>
                </a:moveTo>
                <a:lnTo>
                  <a:pt x="6320399" y="0"/>
                </a:lnTo>
                <a:lnTo>
                  <a:pt x="6320399" y="5607917"/>
                </a:lnTo>
                <a:lnTo>
                  <a:pt x="0" y="5607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025953" y="597126"/>
            <a:ext cx="2228557" cy="2403345"/>
          </a:xfrm>
          <a:custGeom>
            <a:avLst/>
            <a:gdLst/>
            <a:ahLst/>
            <a:cxnLst/>
            <a:rect r="r" b="b" t="t" l="l"/>
            <a:pathLst>
              <a:path h="2403345" w="2228557">
                <a:moveTo>
                  <a:pt x="0" y="0"/>
                </a:moveTo>
                <a:lnTo>
                  <a:pt x="2228556" y="0"/>
                </a:lnTo>
                <a:lnTo>
                  <a:pt x="2228556" y="2403345"/>
                </a:lnTo>
                <a:lnTo>
                  <a:pt x="0" y="2403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42435" y="657038"/>
            <a:ext cx="10510894" cy="198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8"/>
              </a:lnSpc>
            </a:pPr>
            <a:r>
              <a:rPr lang="en-US" sz="60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SINTAXIS BÁSICA DE JAVASCRIPT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1029" y="3043428"/>
            <a:ext cx="12860448" cy="20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Manejo de Errores: 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Uso de bloques try...catch para interceptar fallos en tiempo de ejecución y evitar que la aplicación colapse sin previo aviso.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410856" y="638432"/>
            <a:ext cx="3250917" cy="3250917"/>
          </a:xfrm>
          <a:custGeom>
            <a:avLst/>
            <a:gdLst/>
            <a:ahLst/>
            <a:cxnLst/>
            <a:rect r="r" b="b" t="t" l="l"/>
            <a:pathLst>
              <a:path h="3250917" w="3250917">
                <a:moveTo>
                  <a:pt x="0" y="0"/>
                </a:moveTo>
                <a:lnTo>
                  <a:pt x="3250918" y="0"/>
                </a:lnTo>
                <a:lnTo>
                  <a:pt x="3250918" y="3250918"/>
                </a:lnTo>
                <a:lnTo>
                  <a:pt x="0" y="32509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541029" y="6613377"/>
            <a:ext cx="17428104" cy="20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3942" b="true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NOTA: </a:t>
            </a:r>
            <a:r>
              <a:rPr lang="en-US" sz="3942">
                <a:solidFill>
                  <a:srgbClr val="FF3131"/>
                </a:solidFill>
                <a:latin typeface="DM Sans"/>
                <a:ea typeface="DM Sans"/>
                <a:cs typeface="DM Sans"/>
                <a:sym typeface="DM Sans"/>
              </a:rPr>
              <a:t>Visita </a:t>
            </a:r>
            <a:r>
              <a:rPr lang="en-US" sz="3942" i="true">
                <a:solidFill>
                  <a:srgbClr val="FF3131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https://github.com/SamuelCubano/Desarrollo-Web-Superatec</a:t>
            </a:r>
            <a:r>
              <a:rPr lang="en-US" sz="3942">
                <a:solidFill>
                  <a:srgbClr val="FF3131"/>
                </a:solidFill>
                <a:latin typeface="DM Sans"/>
                <a:ea typeface="DM Sans"/>
                <a:cs typeface="DM Sans"/>
                <a:sym typeface="DM Sans"/>
              </a:rPr>
              <a:t> y entra a los directorios de </a:t>
            </a:r>
            <a:r>
              <a:rPr lang="en-US" sz="3942" u="sng">
                <a:solidFill>
                  <a:srgbClr val="FF3131"/>
                </a:solidFill>
                <a:latin typeface="DM Sans"/>
                <a:ea typeface="DM Sans"/>
                <a:cs typeface="DM Sans"/>
                <a:sym typeface="DM Sans"/>
                <a:hlinkClick r:id="rId8" tooltip="https://github.com/SamuelCubano/Desarrollo-Web-Superatec/tree/main"/>
              </a:rPr>
              <a:t>Desarrollo-Web-Superatec</a:t>
            </a:r>
          </a:p>
          <a:p>
            <a:pPr algn="l">
              <a:lnSpc>
                <a:spcPts val="5520"/>
              </a:lnSpc>
            </a:pPr>
            <a:r>
              <a:rPr lang="en-US" sz="3942">
                <a:solidFill>
                  <a:srgbClr val="FF313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3942" u="sng">
                <a:solidFill>
                  <a:srgbClr val="FF3131"/>
                </a:solidFill>
                <a:latin typeface="DM Sans"/>
                <a:ea typeface="DM Sans"/>
                <a:cs typeface="DM Sans"/>
                <a:sym typeface="DM Sans"/>
                <a:hlinkClick r:id="rId9" tooltip="https://github.com/SamuelCubano/Desarrollo-Web-Superatec/tree/main/M%C3%B3dulos%20de%20Clases"/>
              </a:rPr>
              <a:t>Módulos de Clases</a:t>
            </a:r>
            <a:r>
              <a:rPr lang="en-US" sz="3942">
                <a:solidFill>
                  <a:srgbClr val="FF313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3942" u="sng">
                <a:solidFill>
                  <a:srgbClr val="FF3131"/>
                </a:solidFill>
                <a:latin typeface="DM Sans"/>
                <a:ea typeface="DM Sans"/>
                <a:cs typeface="DM Sans"/>
                <a:sym typeface="DM Sans"/>
                <a:hlinkClick r:id="rId10" tooltip="https://github.com/SamuelCubano/Desarrollo-Web-Superatec/tree/main/M%C3%B3dulos%20de%20Clases/M%C3%B3dulo%20II"/>
              </a:rPr>
              <a:t>Módulo II</a:t>
            </a:r>
            <a:r>
              <a:rPr lang="en-US" sz="3942">
                <a:solidFill>
                  <a:srgbClr val="FF313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3942" u="sng">
                <a:solidFill>
                  <a:srgbClr val="FF3131"/>
                </a:solidFill>
                <a:latin typeface="DM Sans"/>
                <a:ea typeface="DM Sans"/>
                <a:cs typeface="DM Sans"/>
                <a:sym typeface="DM Sans"/>
                <a:hlinkClick r:id="rId11" tooltip="https://github.com/SamuelCubano/Desarrollo-Web-Superatec/tree/main/M%C3%B3dulos%20de%20Clases/M%C3%B3dulo%20II/Examples"/>
              </a:rPr>
              <a:t>Examples</a:t>
            </a:r>
            <a:r>
              <a:rPr lang="en-US" sz="3942">
                <a:solidFill>
                  <a:srgbClr val="FF3131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3942" u="sng">
                <a:solidFill>
                  <a:srgbClr val="FF3131"/>
                </a:solidFill>
                <a:latin typeface="DM Sans"/>
                <a:ea typeface="DM Sans"/>
                <a:cs typeface="DM Sans"/>
                <a:sym typeface="DM Sans"/>
              </a:rPr>
              <a:t>app.js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14218328" y="6392721"/>
            <a:ext cx="6081945" cy="5329995"/>
          </a:xfrm>
          <a:custGeom>
            <a:avLst/>
            <a:gdLst/>
            <a:ahLst/>
            <a:cxnLst/>
            <a:rect r="r" b="b" t="t" l="l"/>
            <a:pathLst>
              <a:path h="5329995" w="6081945">
                <a:moveTo>
                  <a:pt x="6081944" y="0"/>
                </a:moveTo>
                <a:lnTo>
                  <a:pt x="0" y="0"/>
                </a:lnTo>
                <a:lnTo>
                  <a:pt x="0" y="5329995"/>
                </a:lnTo>
                <a:lnTo>
                  <a:pt x="6081944" y="5329995"/>
                </a:lnTo>
                <a:lnTo>
                  <a:pt x="60819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-2077937" y="7078777"/>
            <a:ext cx="5299100" cy="4643939"/>
          </a:xfrm>
          <a:custGeom>
            <a:avLst/>
            <a:gdLst/>
            <a:ahLst/>
            <a:cxnLst/>
            <a:rect r="r" b="b" t="t" l="l"/>
            <a:pathLst>
              <a:path h="4643939" w="5299100">
                <a:moveTo>
                  <a:pt x="5299100" y="0"/>
                </a:moveTo>
                <a:lnTo>
                  <a:pt x="0" y="0"/>
                </a:lnTo>
                <a:lnTo>
                  <a:pt x="0" y="4643939"/>
                </a:lnTo>
                <a:lnTo>
                  <a:pt x="5299100" y="4643939"/>
                </a:lnTo>
                <a:lnTo>
                  <a:pt x="52991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2267963" y="6610745"/>
            <a:ext cx="13197446" cy="2782783"/>
            <a:chOff x="0" y="0"/>
            <a:chExt cx="3475871" cy="7329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75870" cy="732914"/>
            </a:xfrm>
            <a:custGeom>
              <a:avLst/>
              <a:gdLst/>
              <a:ahLst/>
              <a:cxnLst/>
              <a:rect r="r" b="b" t="t" l="l"/>
              <a:pathLst>
                <a:path h="732914" w="3475870">
                  <a:moveTo>
                    <a:pt x="29918" y="0"/>
                  </a:moveTo>
                  <a:lnTo>
                    <a:pt x="3445952" y="0"/>
                  </a:lnTo>
                  <a:cubicBezTo>
                    <a:pt x="3453887" y="0"/>
                    <a:pt x="3461497" y="3152"/>
                    <a:pt x="3467108" y="8763"/>
                  </a:cubicBezTo>
                  <a:cubicBezTo>
                    <a:pt x="3472718" y="14373"/>
                    <a:pt x="3475870" y="21983"/>
                    <a:pt x="3475870" y="29918"/>
                  </a:cubicBezTo>
                  <a:lnTo>
                    <a:pt x="3475870" y="702996"/>
                  </a:lnTo>
                  <a:cubicBezTo>
                    <a:pt x="3475870" y="719519"/>
                    <a:pt x="3462476" y="732914"/>
                    <a:pt x="3445952" y="732914"/>
                  </a:cubicBezTo>
                  <a:lnTo>
                    <a:pt x="29918" y="732914"/>
                  </a:lnTo>
                  <a:cubicBezTo>
                    <a:pt x="13395" y="732914"/>
                    <a:pt x="0" y="719519"/>
                    <a:pt x="0" y="702996"/>
                  </a:cubicBezTo>
                  <a:lnTo>
                    <a:pt x="0" y="29918"/>
                  </a:lnTo>
                  <a:cubicBezTo>
                    <a:pt x="0" y="13395"/>
                    <a:pt x="13395" y="0"/>
                    <a:pt x="2991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3475871" cy="809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46309" y="6339746"/>
            <a:ext cx="1430495" cy="143049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B7F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287027"/>
            <a:ext cx="12489291" cy="74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4"/>
              </a:lnSpc>
            </a:pPr>
            <a:r>
              <a:rPr lang="en-US" sz="47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¿CÓMO SE APLICA JS A HTML?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48830" y="6905752"/>
            <a:ext cx="12412994" cy="2352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34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Interno:</a:t>
            </a:r>
          </a:p>
          <a:p>
            <a:pPr algn="l">
              <a:lnSpc>
                <a:spcPts val="3706"/>
              </a:lnSpc>
            </a:pPr>
          </a:p>
          <a:p>
            <a:pPr algn="l" marL="0" indent="0" lvl="0">
              <a:lnSpc>
                <a:spcPts val="3706"/>
              </a:lnSpc>
            </a:pPr>
            <a:r>
              <a:rPr lang="en-US" sz="3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Escribe el código directamente dentro del documento HTML envolviéndolo con las etiquetas de apertura y cierre de &lt;script&gt;.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4169" y="6582170"/>
            <a:ext cx="1314776" cy="1041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9"/>
              </a:lnSpc>
            </a:pPr>
            <a:r>
              <a:rPr lang="en-US" sz="6685">
                <a:solidFill>
                  <a:srgbClr val="000000"/>
                </a:solidFill>
                <a:latin typeface="Bugaki"/>
                <a:ea typeface="Bugaki"/>
                <a:cs typeface="Bugaki"/>
                <a:sym typeface="Bugaki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5142" y="1215016"/>
            <a:ext cx="14600267" cy="1390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1"/>
              </a:lnSpc>
              <a:spcBef>
                <a:spcPct val="0"/>
              </a:spcBef>
            </a:pPr>
            <a:r>
              <a:rPr lang="en-US" sz="3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isten 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m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étodo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principales para 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grar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lo: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dia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nte u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hivo ext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erno (la 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forma más re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omend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ada) o escribiendo el código 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dir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ecta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mente en el HTML.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264809" y="137972"/>
            <a:ext cx="2466472" cy="2466472"/>
          </a:xfrm>
          <a:custGeom>
            <a:avLst/>
            <a:gdLst/>
            <a:ahLst/>
            <a:cxnLst/>
            <a:rect r="r" b="b" t="t" l="l"/>
            <a:pathLst>
              <a:path h="2466472" w="2466472">
                <a:moveTo>
                  <a:pt x="0" y="0"/>
                </a:moveTo>
                <a:lnTo>
                  <a:pt x="2466472" y="0"/>
                </a:lnTo>
                <a:lnTo>
                  <a:pt x="2466472" y="2466472"/>
                </a:lnTo>
                <a:lnTo>
                  <a:pt x="0" y="24664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  <p:grpSp>
        <p:nvGrpSpPr>
          <p:cNvPr name="Group 15" id="15"/>
          <p:cNvGrpSpPr/>
          <p:nvPr/>
        </p:nvGrpSpPr>
        <p:grpSpPr>
          <a:xfrm rot="0">
            <a:off x="2325822" y="3018318"/>
            <a:ext cx="13197446" cy="2782783"/>
            <a:chOff x="0" y="0"/>
            <a:chExt cx="3475871" cy="73291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75870" cy="732914"/>
            </a:xfrm>
            <a:custGeom>
              <a:avLst/>
              <a:gdLst/>
              <a:ahLst/>
              <a:cxnLst/>
              <a:rect r="r" b="b" t="t" l="l"/>
              <a:pathLst>
                <a:path h="732914" w="3475870">
                  <a:moveTo>
                    <a:pt x="29918" y="0"/>
                  </a:moveTo>
                  <a:lnTo>
                    <a:pt x="3445952" y="0"/>
                  </a:lnTo>
                  <a:cubicBezTo>
                    <a:pt x="3453887" y="0"/>
                    <a:pt x="3461497" y="3152"/>
                    <a:pt x="3467108" y="8763"/>
                  </a:cubicBezTo>
                  <a:cubicBezTo>
                    <a:pt x="3472718" y="14373"/>
                    <a:pt x="3475870" y="21983"/>
                    <a:pt x="3475870" y="29918"/>
                  </a:cubicBezTo>
                  <a:lnTo>
                    <a:pt x="3475870" y="702996"/>
                  </a:lnTo>
                  <a:cubicBezTo>
                    <a:pt x="3475870" y="719519"/>
                    <a:pt x="3462476" y="732914"/>
                    <a:pt x="3445952" y="732914"/>
                  </a:cubicBezTo>
                  <a:lnTo>
                    <a:pt x="29918" y="732914"/>
                  </a:lnTo>
                  <a:cubicBezTo>
                    <a:pt x="13395" y="732914"/>
                    <a:pt x="0" y="719519"/>
                    <a:pt x="0" y="702996"/>
                  </a:cubicBezTo>
                  <a:lnTo>
                    <a:pt x="0" y="29918"/>
                  </a:lnTo>
                  <a:cubicBezTo>
                    <a:pt x="0" y="13395"/>
                    <a:pt x="13395" y="0"/>
                    <a:pt x="2991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3475871" cy="809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04169" y="2747319"/>
            <a:ext cx="1430495" cy="143049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B7F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806690" y="3313325"/>
            <a:ext cx="12412994" cy="2352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34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Externo (Recomendado):</a:t>
            </a:r>
          </a:p>
          <a:p>
            <a:pPr algn="l">
              <a:lnSpc>
                <a:spcPts val="3706"/>
              </a:lnSpc>
            </a:pPr>
          </a:p>
          <a:p>
            <a:pPr algn="l" marL="0" indent="0" lvl="0">
              <a:lnSpc>
                <a:spcPts val="3706"/>
              </a:lnSpc>
            </a:pPr>
            <a:r>
              <a:rPr lang="en-US" sz="3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 un archivo separado con la extensión .js (por ejemplo, </a:t>
            </a:r>
            <a:r>
              <a:rPr lang="en-US" sz="34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script.js</a:t>
            </a:r>
            <a:r>
              <a:rPr lang="en-US" sz="3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 </a:t>
            </a:r>
            <a:r>
              <a:rPr lang="en-US" sz="34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app.js</a:t>
            </a:r>
            <a:r>
              <a:rPr lang="en-US" sz="3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) y enlazarlo usando el atributo src dentro de la etiqueta &lt;script&gt;.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2029" y="2989743"/>
            <a:ext cx="1314776" cy="1041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9"/>
              </a:lnSpc>
            </a:pPr>
            <a:r>
              <a:rPr lang="en-US" sz="6685">
                <a:solidFill>
                  <a:srgbClr val="000000"/>
                </a:solidFill>
                <a:latin typeface="Bugaki"/>
                <a:ea typeface="Bugaki"/>
                <a:cs typeface="Bugaki"/>
                <a:sym typeface="Bugaki"/>
              </a:rPr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14218328" y="6392721"/>
            <a:ext cx="6081945" cy="5329995"/>
          </a:xfrm>
          <a:custGeom>
            <a:avLst/>
            <a:gdLst/>
            <a:ahLst/>
            <a:cxnLst/>
            <a:rect r="r" b="b" t="t" l="l"/>
            <a:pathLst>
              <a:path h="5329995" w="6081945">
                <a:moveTo>
                  <a:pt x="6081944" y="0"/>
                </a:moveTo>
                <a:lnTo>
                  <a:pt x="0" y="0"/>
                </a:lnTo>
                <a:lnTo>
                  <a:pt x="0" y="5329995"/>
                </a:lnTo>
                <a:lnTo>
                  <a:pt x="6081944" y="5329995"/>
                </a:lnTo>
                <a:lnTo>
                  <a:pt x="60819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-2077937" y="7078777"/>
            <a:ext cx="5299100" cy="4643939"/>
          </a:xfrm>
          <a:custGeom>
            <a:avLst/>
            <a:gdLst/>
            <a:ahLst/>
            <a:cxnLst/>
            <a:rect r="r" b="b" t="t" l="l"/>
            <a:pathLst>
              <a:path h="4643939" w="5299100">
                <a:moveTo>
                  <a:pt x="5299100" y="0"/>
                </a:moveTo>
                <a:lnTo>
                  <a:pt x="0" y="0"/>
                </a:lnTo>
                <a:lnTo>
                  <a:pt x="0" y="4643939"/>
                </a:lnTo>
                <a:lnTo>
                  <a:pt x="5299100" y="4643939"/>
                </a:lnTo>
                <a:lnTo>
                  <a:pt x="52991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7729644" cy="10287000"/>
          </a:xfrm>
          <a:custGeom>
            <a:avLst/>
            <a:gdLst/>
            <a:ahLst/>
            <a:cxnLst/>
            <a:rect r="r" b="b" t="t" l="l"/>
            <a:pathLst>
              <a:path h="10287000" w="17729644">
                <a:moveTo>
                  <a:pt x="0" y="0"/>
                </a:moveTo>
                <a:lnTo>
                  <a:pt x="17729644" y="0"/>
                </a:lnTo>
                <a:lnTo>
                  <a:pt x="1772964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57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3289570">
            <a:off x="12908797" y="6370103"/>
            <a:ext cx="4294990" cy="1417347"/>
          </a:xfrm>
          <a:custGeom>
            <a:avLst/>
            <a:gdLst/>
            <a:ahLst/>
            <a:cxnLst/>
            <a:rect r="r" b="b" t="t" l="l"/>
            <a:pathLst>
              <a:path h="1417347" w="4294990">
                <a:moveTo>
                  <a:pt x="4294990" y="0"/>
                </a:moveTo>
                <a:lnTo>
                  <a:pt x="0" y="0"/>
                </a:lnTo>
                <a:lnTo>
                  <a:pt x="0" y="1417347"/>
                </a:lnTo>
                <a:lnTo>
                  <a:pt x="4294990" y="1417347"/>
                </a:lnTo>
                <a:lnTo>
                  <a:pt x="429499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2781752" y="2963784"/>
            <a:ext cx="454908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Externo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14218328" y="6392721"/>
            <a:ext cx="6081945" cy="5329995"/>
          </a:xfrm>
          <a:custGeom>
            <a:avLst/>
            <a:gdLst/>
            <a:ahLst/>
            <a:cxnLst/>
            <a:rect r="r" b="b" t="t" l="l"/>
            <a:pathLst>
              <a:path h="5329995" w="6081945">
                <a:moveTo>
                  <a:pt x="6081944" y="0"/>
                </a:moveTo>
                <a:lnTo>
                  <a:pt x="0" y="0"/>
                </a:lnTo>
                <a:lnTo>
                  <a:pt x="0" y="5329995"/>
                </a:lnTo>
                <a:lnTo>
                  <a:pt x="6081944" y="5329995"/>
                </a:lnTo>
                <a:lnTo>
                  <a:pt x="60819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-2077937" y="7078777"/>
            <a:ext cx="5299100" cy="4643939"/>
          </a:xfrm>
          <a:custGeom>
            <a:avLst/>
            <a:gdLst/>
            <a:ahLst/>
            <a:cxnLst/>
            <a:rect r="r" b="b" t="t" l="l"/>
            <a:pathLst>
              <a:path h="4643939" w="5299100">
                <a:moveTo>
                  <a:pt x="5299100" y="0"/>
                </a:moveTo>
                <a:lnTo>
                  <a:pt x="0" y="0"/>
                </a:lnTo>
                <a:lnTo>
                  <a:pt x="0" y="4643939"/>
                </a:lnTo>
                <a:lnTo>
                  <a:pt x="5299100" y="4643939"/>
                </a:lnTo>
                <a:lnTo>
                  <a:pt x="52991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7626436" cy="10287000"/>
          </a:xfrm>
          <a:custGeom>
            <a:avLst/>
            <a:gdLst/>
            <a:ahLst/>
            <a:cxnLst/>
            <a:rect r="r" b="b" t="t" l="l"/>
            <a:pathLst>
              <a:path h="10287000" w="17626436">
                <a:moveTo>
                  <a:pt x="0" y="0"/>
                </a:moveTo>
                <a:lnTo>
                  <a:pt x="17626436" y="0"/>
                </a:lnTo>
                <a:lnTo>
                  <a:pt x="176264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3289570">
            <a:off x="12908797" y="6370103"/>
            <a:ext cx="4294990" cy="1417347"/>
          </a:xfrm>
          <a:custGeom>
            <a:avLst/>
            <a:gdLst/>
            <a:ahLst/>
            <a:cxnLst/>
            <a:rect r="r" b="b" t="t" l="l"/>
            <a:pathLst>
              <a:path h="1417347" w="4294990">
                <a:moveTo>
                  <a:pt x="4294990" y="0"/>
                </a:moveTo>
                <a:lnTo>
                  <a:pt x="0" y="0"/>
                </a:lnTo>
                <a:lnTo>
                  <a:pt x="0" y="1417347"/>
                </a:lnTo>
                <a:lnTo>
                  <a:pt x="4294990" y="1417347"/>
                </a:lnTo>
                <a:lnTo>
                  <a:pt x="429499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2869337" y="2963784"/>
            <a:ext cx="437391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Interno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3717006" y="-2697510"/>
            <a:ext cx="6320399" cy="5607918"/>
          </a:xfrm>
          <a:custGeom>
            <a:avLst/>
            <a:gdLst/>
            <a:ahLst/>
            <a:cxnLst/>
            <a:rect r="r" b="b" t="t" l="l"/>
            <a:pathLst>
              <a:path h="5607918" w="6320399">
                <a:moveTo>
                  <a:pt x="0" y="0"/>
                </a:moveTo>
                <a:lnTo>
                  <a:pt x="6320399" y="0"/>
                </a:lnTo>
                <a:lnTo>
                  <a:pt x="6320399" y="5607917"/>
                </a:lnTo>
                <a:lnTo>
                  <a:pt x="0" y="5607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025953" y="597126"/>
            <a:ext cx="2228557" cy="2403345"/>
          </a:xfrm>
          <a:custGeom>
            <a:avLst/>
            <a:gdLst/>
            <a:ahLst/>
            <a:cxnLst/>
            <a:rect r="r" b="b" t="t" l="l"/>
            <a:pathLst>
              <a:path h="2403345" w="2228557">
                <a:moveTo>
                  <a:pt x="0" y="0"/>
                </a:moveTo>
                <a:lnTo>
                  <a:pt x="2228556" y="0"/>
                </a:lnTo>
                <a:lnTo>
                  <a:pt x="2228556" y="2403345"/>
                </a:lnTo>
                <a:lnTo>
                  <a:pt x="0" y="2403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42435" y="657038"/>
            <a:ext cx="10510894" cy="198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8"/>
              </a:lnSpc>
            </a:pPr>
            <a:r>
              <a:rPr lang="en-US" sz="60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MANIPULACIÓN DEL DOM EN JS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2435" y="3357700"/>
            <a:ext cx="17050776" cy="623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394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Selección de elementos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(Para buscar qué vas a modificar)</a:t>
            </a:r>
          </a:p>
          <a:p>
            <a:pPr algn="l">
              <a:lnSpc>
                <a:spcPts val="5520"/>
              </a:lnSpc>
            </a:pPr>
          </a:p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document.getElementById("mi-id"):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Selecciona un único elemento buscando por su atributo id. Es rápido y directo.</a:t>
            </a:r>
          </a:p>
          <a:p>
            <a:pPr algn="l">
              <a:lnSpc>
                <a:spcPts val="5520"/>
              </a:lnSpc>
            </a:pPr>
          </a:p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document.querySelector(".mi-clase" o "etiqueta"):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Utiliza selectores de CSS (como clases con punto, IDs con numeral, o etiquetas) y devuelve el primer elemento que coincida.</a:t>
            </a:r>
          </a:p>
          <a:p>
            <a:pPr algn="l">
              <a:lnSpc>
                <a:spcPts val="552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426084" y="231315"/>
            <a:ext cx="2109003" cy="2109003"/>
          </a:xfrm>
          <a:custGeom>
            <a:avLst/>
            <a:gdLst/>
            <a:ahLst/>
            <a:cxnLst/>
            <a:rect r="r" b="b" t="t" l="l"/>
            <a:pathLst>
              <a:path h="2109003" w="2109003">
                <a:moveTo>
                  <a:pt x="0" y="0"/>
                </a:moveTo>
                <a:lnTo>
                  <a:pt x="2109004" y="0"/>
                </a:lnTo>
                <a:lnTo>
                  <a:pt x="2109004" y="2109003"/>
                </a:lnTo>
                <a:lnTo>
                  <a:pt x="0" y="21090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3965986" y="-2712382"/>
            <a:ext cx="6056547" cy="5373809"/>
          </a:xfrm>
          <a:custGeom>
            <a:avLst/>
            <a:gdLst/>
            <a:ahLst/>
            <a:cxnLst/>
            <a:rect r="r" b="b" t="t" l="l"/>
            <a:pathLst>
              <a:path h="5373809" w="6056547">
                <a:moveTo>
                  <a:pt x="0" y="0"/>
                </a:moveTo>
                <a:lnTo>
                  <a:pt x="6056548" y="0"/>
                </a:lnTo>
                <a:lnTo>
                  <a:pt x="6056548" y="5373809"/>
                </a:lnTo>
                <a:lnTo>
                  <a:pt x="0" y="537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541029" y="204822"/>
            <a:ext cx="10510894" cy="198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8"/>
              </a:lnSpc>
            </a:pPr>
            <a:r>
              <a:rPr lang="en-US" sz="60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MANIPULACIÓN DEL DOM EN JS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1029" y="2350963"/>
            <a:ext cx="17249370" cy="762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394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Modificación de contenido y atributos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(Para cambiar lo que se ve)</a:t>
            </a:r>
          </a:p>
          <a:p>
            <a:pPr algn="l">
              <a:lnSpc>
                <a:spcPts val="5520"/>
              </a:lnSpc>
            </a:pPr>
          </a:p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ele</a:t>
            </a: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mento.textContent = "Texto nuevo":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Cambia exclusivamente el texto plano dentro del elemento.</a:t>
            </a:r>
          </a:p>
          <a:p>
            <a:pPr algn="l">
              <a:lnSpc>
                <a:spcPts val="5520"/>
              </a:lnSpc>
            </a:pPr>
          </a:p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elemento.innerHTML = "&lt;b&gt;Texto en negrita&lt;/b&gt;":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Permite inyectar contenido que incluya etiquetas HTML dentro del elemento.</a:t>
            </a:r>
          </a:p>
          <a:p>
            <a:pPr algn="l">
              <a:lnSpc>
                <a:spcPts val="5520"/>
              </a:lnSpc>
            </a:pPr>
          </a:p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elemento.style.color = "red" o elemento.style.backgroundColor = "blue":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Modifica las propiedades de estilo CSS en línea del elemento de forma dinámica.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477976" y="367808"/>
            <a:ext cx="2059355" cy="2059355"/>
          </a:xfrm>
          <a:custGeom>
            <a:avLst/>
            <a:gdLst/>
            <a:ahLst/>
            <a:cxnLst/>
            <a:rect r="r" b="b" t="t" l="l"/>
            <a:pathLst>
              <a:path h="2059355" w="2059355">
                <a:moveTo>
                  <a:pt x="0" y="0"/>
                </a:moveTo>
                <a:lnTo>
                  <a:pt x="2059355" y="0"/>
                </a:lnTo>
                <a:lnTo>
                  <a:pt x="2059355" y="2059355"/>
                </a:lnTo>
                <a:lnTo>
                  <a:pt x="0" y="20593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3965986" y="-2712382"/>
            <a:ext cx="6056547" cy="5373809"/>
          </a:xfrm>
          <a:custGeom>
            <a:avLst/>
            <a:gdLst/>
            <a:ahLst/>
            <a:cxnLst/>
            <a:rect r="r" b="b" t="t" l="l"/>
            <a:pathLst>
              <a:path h="5373809" w="6056547">
                <a:moveTo>
                  <a:pt x="0" y="0"/>
                </a:moveTo>
                <a:lnTo>
                  <a:pt x="6056548" y="0"/>
                </a:lnTo>
                <a:lnTo>
                  <a:pt x="6056548" y="5373809"/>
                </a:lnTo>
                <a:lnTo>
                  <a:pt x="0" y="537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541029" y="204822"/>
            <a:ext cx="10510894" cy="198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8"/>
              </a:lnSpc>
            </a:pPr>
            <a:r>
              <a:rPr lang="en-US" sz="60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MANIPULACIÓN DEL DOM EN JS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1029" y="2350963"/>
            <a:ext cx="17249370" cy="762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394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Modificación de contenido y atributos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(Para cambiar lo que se ve)</a:t>
            </a:r>
          </a:p>
          <a:p>
            <a:pPr algn="l">
              <a:lnSpc>
                <a:spcPts val="5520"/>
              </a:lnSpc>
            </a:pPr>
          </a:p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ele</a:t>
            </a: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mento.textContent = "Texto nuevo":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Cambia exclusivamente el texto plano dentro del elemento.</a:t>
            </a:r>
          </a:p>
          <a:p>
            <a:pPr algn="l">
              <a:lnSpc>
                <a:spcPts val="5520"/>
              </a:lnSpc>
            </a:pPr>
          </a:p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elemento.innerHTML = "&lt;b&gt;Texto en negrita&lt;/b&gt;":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Permite inyectar contenido que incluya etiquetas HTML dentro del elemento.</a:t>
            </a:r>
          </a:p>
          <a:p>
            <a:pPr algn="l">
              <a:lnSpc>
                <a:spcPts val="5520"/>
              </a:lnSpc>
            </a:pPr>
          </a:p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elemento.style.color = "red" o elemento.style.backgroundColor = "blue":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Modifica las propiedades de estilo CSS en línea del elemento de forma dinámica.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477976" y="367808"/>
            <a:ext cx="2059355" cy="2059355"/>
          </a:xfrm>
          <a:custGeom>
            <a:avLst/>
            <a:gdLst/>
            <a:ahLst/>
            <a:cxnLst/>
            <a:rect r="r" b="b" t="t" l="l"/>
            <a:pathLst>
              <a:path h="2059355" w="2059355">
                <a:moveTo>
                  <a:pt x="0" y="0"/>
                </a:moveTo>
                <a:lnTo>
                  <a:pt x="2059355" y="0"/>
                </a:lnTo>
                <a:lnTo>
                  <a:pt x="2059355" y="2059355"/>
                </a:lnTo>
                <a:lnTo>
                  <a:pt x="0" y="20593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3965986" y="-2712382"/>
            <a:ext cx="6056547" cy="5373809"/>
          </a:xfrm>
          <a:custGeom>
            <a:avLst/>
            <a:gdLst/>
            <a:ahLst/>
            <a:cxnLst/>
            <a:rect r="r" b="b" t="t" l="l"/>
            <a:pathLst>
              <a:path h="5373809" w="6056547">
                <a:moveTo>
                  <a:pt x="0" y="0"/>
                </a:moveTo>
                <a:lnTo>
                  <a:pt x="6056548" y="0"/>
                </a:lnTo>
                <a:lnTo>
                  <a:pt x="6056548" y="5373809"/>
                </a:lnTo>
                <a:lnTo>
                  <a:pt x="0" y="537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541029" y="204822"/>
            <a:ext cx="10510894" cy="198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8"/>
              </a:lnSpc>
            </a:pPr>
            <a:r>
              <a:rPr lang="en-US" sz="60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MANIPULACIÓN DEL DOM EN JS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1029" y="2350963"/>
            <a:ext cx="17249370" cy="20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elemento.setAttribute("class", "nuevo-estilo") o elemento.classList.add("clase"): 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Modifica o añade clases de CSS para cambiar su diseño.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477976" y="367808"/>
            <a:ext cx="2059355" cy="2059355"/>
          </a:xfrm>
          <a:custGeom>
            <a:avLst/>
            <a:gdLst/>
            <a:ahLst/>
            <a:cxnLst/>
            <a:rect r="r" b="b" t="t" l="l"/>
            <a:pathLst>
              <a:path h="2059355" w="2059355">
                <a:moveTo>
                  <a:pt x="0" y="0"/>
                </a:moveTo>
                <a:lnTo>
                  <a:pt x="2059355" y="0"/>
                </a:lnTo>
                <a:lnTo>
                  <a:pt x="2059355" y="2059355"/>
                </a:lnTo>
                <a:lnTo>
                  <a:pt x="0" y="20593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3965986" y="-2712382"/>
            <a:ext cx="6056547" cy="5373809"/>
          </a:xfrm>
          <a:custGeom>
            <a:avLst/>
            <a:gdLst/>
            <a:ahLst/>
            <a:cxnLst/>
            <a:rect r="r" b="b" t="t" l="l"/>
            <a:pathLst>
              <a:path h="5373809" w="6056547">
                <a:moveTo>
                  <a:pt x="0" y="0"/>
                </a:moveTo>
                <a:lnTo>
                  <a:pt x="6056548" y="0"/>
                </a:lnTo>
                <a:lnTo>
                  <a:pt x="6056548" y="5373809"/>
                </a:lnTo>
                <a:lnTo>
                  <a:pt x="0" y="537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541029" y="204822"/>
            <a:ext cx="10510894" cy="198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8"/>
              </a:lnSpc>
            </a:pPr>
            <a:r>
              <a:rPr lang="en-US" sz="60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MANIPULACIÓN DEL DOM EN JS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9315" y="2926596"/>
            <a:ext cx="17249370" cy="553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394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Creación y estructuración de elementos 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(Para generar HTML desde JS)</a:t>
            </a:r>
          </a:p>
          <a:p>
            <a:pPr algn="l">
              <a:lnSpc>
                <a:spcPts val="5520"/>
              </a:lnSpc>
            </a:pPr>
          </a:p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document.createElement("li"): 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 un elemento HTML nuevo en la memoria (en este caso, una lista item), listo para ser personalizado.</a:t>
            </a:r>
          </a:p>
          <a:p>
            <a:pPr algn="l">
              <a:lnSpc>
                <a:spcPts val="5520"/>
              </a:lnSpc>
            </a:pPr>
          </a:p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contenedorPadre.appendChild(elementoNuevo): 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Inserta el elemento recién creado al final de un contenedor padre existente en el DOM para que aparezca en pantalla.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477976" y="367808"/>
            <a:ext cx="2059355" cy="2059355"/>
          </a:xfrm>
          <a:custGeom>
            <a:avLst/>
            <a:gdLst/>
            <a:ahLst/>
            <a:cxnLst/>
            <a:rect r="r" b="b" t="t" l="l"/>
            <a:pathLst>
              <a:path h="2059355" w="2059355">
                <a:moveTo>
                  <a:pt x="0" y="0"/>
                </a:moveTo>
                <a:lnTo>
                  <a:pt x="2059355" y="0"/>
                </a:lnTo>
                <a:lnTo>
                  <a:pt x="2059355" y="2059355"/>
                </a:lnTo>
                <a:lnTo>
                  <a:pt x="0" y="20593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3965986" y="-2712382"/>
            <a:ext cx="6056547" cy="5373809"/>
          </a:xfrm>
          <a:custGeom>
            <a:avLst/>
            <a:gdLst/>
            <a:ahLst/>
            <a:cxnLst/>
            <a:rect r="r" b="b" t="t" l="l"/>
            <a:pathLst>
              <a:path h="5373809" w="6056547">
                <a:moveTo>
                  <a:pt x="0" y="0"/>
                </a:moveTo>
                <a:lnTo>
                  <a:pt x="6056548" y="0"/>
                </a:lnTo>
                <a:lnTo>
                  <a:pt x="6056548" y="5373809"/>
                </a:lnTo>
                <a:lnTo>
                  <a:pt x="0" y="537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541029" y="204822"/>
            <a:ext cx="10510894" cy="198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8"/>
              </a:lnSpc>
            </a:pPr>
            <a:r>
              <a:rPr lang="en-US" sz="60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MANIPULACIÓN DEL DOM EN JS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9315" y="2926596"/>
            <a:ext cx="17249370" cy="484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394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Manejo de eventos 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(Para hacer la página interactiva)</a:t>
            </a:r>
          </a:p>
          <a:p>
            <a:pPr algn="l">
              <a:lnSpc>
                <a:spcPts val="5520"/>
              </a:lnSpc>
            </a:pPr>
          </a:p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ele</a:t>
            </a: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mento.addEventListener("click", function() { ... }): 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Escucha una acción específica del usuario (como un clic, pasar el mouse por encima, o escribir en un input) y ejecuta un bloque de código en respuesta.</a:t>
            </a:r>
          </a:p>
          <a:p>
            <a:pPr algn="l">
              <a:lnSpc>
                <a:spcPts val="552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477976" y="367808"/>
            <a:ext cx="2059355" cy="2059355"/>
          </a:xfrm>
          <a:custGeom>
            <a:avLst/>
            <a:gdLst/>
            <a:ahLst/>
            <a:cxnLst/>
            <a:rect r="r" b="b" t="t" l="l"/>
            <a:pathLst>
              <a:path h="2059355" w="2059355">
                <a:moveTo>
                  <a:pt x="0" y="0"/>
                </a:moveTo>
                <a:lnTo>
                  <a:pt x="2059355" y="0"/>
                </a:lnTo>
                <a:lnTo>
                  <a:pt x="2059355" y="2059355"/>
                </a:lnTo>
                <a:lnTo>
                  <a:pt x="0" y="20593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5E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4275" y="273295"/>
            <a:ext cx="14360543" cy="205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788"/>
              </a:lnSpc>
              <a:spcBef>
                <a:spcPct val="0"/>
              </a:spcBef>
            </a:pPr>
            <a:r>
              <a:rPr lang="en-US" sz="13131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ACTIVIDAD #2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786191" y="-301379"/>
            <a:ext cx="3289140" cy="3770477"/>
          </a:xfrm>
          <a:custGeom>
            <a:avLst/>
            <a:gdLst/>
            <a:ahLst/>
            <a:cxnLst/>
            <a:rect r="r" b="b" t="t" l="l"/>
            <a:pathLst>
              <a:path h="3770477" w="3289140">
                <a:moveTo>
                  <a:pt x="0" y="0"/>
                </a:moveTo>
                <a:lnTo>
                  <a:pt x="3289140" y="0"/>
                </a:lnTo>
                <a:lnTo>
                  <a:pt x="3289140" y="3770477"/>
                </a:lnTo>
                <a:lnTo>
                  <a:pt x="0" y="37704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4275" y="2548115"/>
            <a:ext cx="17339449" cy="7428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9"/>
              </a:lnSpc>
              <a:spcBef>
                <a:spcPct val="0"/>
              </a:spcBef>
            </a:pPr>
            <a:r>
              <a:rPr lang="en-US" sz="3933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CONSTRUYE UNA MINI APLICACIÓN INTERACTIVA Y FUNCIONAL UTILIZANDO UN ARCHIVO HTML INDEPENDIENTE, UNA HOJA DE ESTILOS CSS EXTERNA Y UN SCRIPT DE JAVASCRIPT PARA LA LÓGICA. EL PROYECTO DEBE INTEGRAR OBLIGATORIAMENTE UN ARREGLO DE DATOS, ESTRUCTURAS CONDICIONALES (IF/ELSE) PARA LA TOMA DE DECISIONES, MANIPULACIÓN DINÁMICA DEL DOM MEDIANTE PROPIEDADES COMO TEXTCONTENT O MÉTODOS DE CREACIÓN DE ELEMENTOS, Y UN EVENTO DE ESCUCHA (ADDEVENTLISTENER) CONECTADO A UN BOTÓN. LA TEMÁTICA ES TOTALMENTE LIBRE —PUEDES IDEAR DESDE UN MINI JUEGO O GENERADOR ALEATORIO HASTA UNA SECCIÓN INTERACTIVA PARA UN BLOG O GALERÍA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29069" y="3809227"/>
            <a:ext cx="13229862" cy="178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6172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RECUERDA SUBIR TU RETO A GITHUB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400000">
            <a:off x="-1666877" y="6359034"/>
            <a:ext cx="5064114" cy="5805204"/>
          </a:xfrm>
          <a:custGeom>
            <a:avLst/>
            <a:gdLst/>
            <a:ahLst/>
            <a:cxnLst/>
            <a:rect r="r" b="b" t="t" l="l"/>
            <a:pathLst>
              <a:path h="5805204" w="5064114">
                <a:moveTo>
                  <a:pt x="0" y="0"/>
                </a:moveTo>
                <a:lnTo>
                  <a:pt x="5064114" y="0"/>
                </a:lnTo>
                <a:lnTo>
                  <a:pt x="5064114" y="5805204"/>
                </a:lnTo>
                <a:lnTo>
                  <a:pt x="0" y="5805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5357810" y="-2118491"/>
            <a:ext cx="5064114" cy="5805204"/>
          </a:xfrm>
          <a:custGeom>
            <a:avLst/>
            <a:gdLst/>
            <a:ahLst/>
            <a:cxnLst/>
            <a:rect r="r" b="b" t="t" l="l"/>
            <a:pathLst>
              <a:path h="5805204" w="5064114">
                <a:moveTo>
                  <a:pt x="0" y="0"/>
                </a:moveTo>
                <a:lnTo>
                  <a:pt x="5064114" y="0"/>
                </a:lnTo>
                <a:lnTo>
                  <a:pt x="5064114" y="5805204"/>
                </a:lnTo>
                <a:lnTo>
                  <a:pt x="0" y="5805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72995" y="6113438"/>
            <a:ext cx="3859799" cy="3859799"/>
          </a:xfrm>
          <a:custGeom>
            <a:avLst/>
            <a:gdLst/>
            <a:ahLst/>
            <a:cxnLst/>
            <a:rect r="r" b="b" t="t" l="l"/>
            <a:pathLst>
              <a:path h="3859799" w="3859799">
                <a:moveTo>
                  <a:pt x="0" y="0"/>
                </a:moveTo>
                <a:lnTo>
                  <a:pt x="3859799" y="0"/>
                </a:lnTo>
                <a:lnTo>
                  <a:pt x="3859799" y="3859799"/>
                </a:lnTo>
                <a:lnTo>
                  <a:pt x="0" y="38597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85809" y="6344810"/>
            <a:ext cx="3397055" cy="3397055"/>
          </a:xfrm>
          <a:custGeom>
            <a:avLst/>
            <a:gdLst/>
            <a:ahLst/>
            <a:cxnLst/>
            <a:rect r="r" b="b" t="t" l="l"/>
            <a:pathLst>
              <a:path h="3397055" w="3397055">
                <a:moveTo>
                  <a:pt x="0" y="0"/>
                </a:moveTo>
                <a:lnTo>
                  <a:pt x="3397054" y="0"/>
                </a:lnTo>
                <a:lnTo>
                  <a:pt x="3397054" y="3397055"/>
                </a:lnTo>
                <a:lnTo>
                  <a:pt x="0" y="33970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5E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83674" y="4087147"/>
            <a:ext cx="11520653" cy="380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788"/>
              </a:lnSpc>
              <a:spcBef>
                <a:spcPct val="0"/>
              </a:spcBef>
            </a:pPr>
            <a:r>
              <a:rPr lang="en-US" sz="13131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¡HASTA LA PRÓXIMA!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441420" y="370164"/>
            <a:ext cx="3589506" cy="4114800"/>
          </a:xfrm>
          <a:custGeom>
            <a:avLst/>
            <a:gdLst/>
            <a:ahLst/>
            <a:cxnLst/>
            <a:rect r="r" b="b" t="t" l="l"/>
            <a:pathLst>
              <a:path h="4114800" w="3589506">
                <a:moveTo>
                  <a:pt x="0" y="0"/>
                </a:moveTo>
                <a:lnTo>
                  <a:pt x="3589507" y="0"/>
                </a:lnTo>
                <a:lnTo>
                  <a:pt x="35895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744" y="6328726"/>
            <a:ext cx="4079910" cy="3619993"/>
          </a:xfrm>
          <a:custGeom>
            <a:avLst/>
            <a:gdLst/>
            <a:ahLst/>
            <a:cxnLst/>
            <a:rect r="r" b="b" t="t" l="l"/>
            <a:pathLst>
              <a:path h="3619993" w="4079910">
                <a:moveTo>
                  <a:pt x="0" y="0"/>
                </a:moveTo>
                <a:lnTo>
                  <a:pt x="4079910" y="0"/>
                </a:lnTo>
                <a:lnTo>
                  <a:pt x="4079910" y="3619994"/>
                </a:lnTo>
                <a:lnTo>
                  <a:pt x="0" y="36199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DAHUM5FUFgY</dc:identifier>
  <dcterms:modified xsi:type="dcterms:W3CDTF">2011-08-01T06:04:30Z</dcterms:modified>
  <cp:revision>1</cp:revision>
  <dc:title>Curso de Desarrollo Web Modulo II</dc:title>
</cp:coreProperties>
</file>