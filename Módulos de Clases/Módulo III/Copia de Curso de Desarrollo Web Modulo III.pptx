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ly" charset="1" panose="02040503050400000004"/>
      <p:regular r:id="rId15"/>
    </p:embeddedFont>
    <p:embeddedFont>
      <p:font typeface="DM Sans" charset="1" panose="00000000000000000000"/>
      <p:regular r:id="rId16"/>
    </p:embeddedFont>
    <p:embeddedFont>
      <p:font typeface="Bugaki" charset="1" panose="00000000000000000000"/>
      <p:regular r:id="rId17"/>
    </p:embeddedFont>
    <p:embeddedFont>
      <p:font typeface="DM Sans Bold" charset="1" panose="00000000000000000000"/>
      <p:regular r:id="rId18"/>
    </p:embeddedFont>
    <p:embeddedFont>
      <p:font typeface="DM Sans Italics" charset="1" panose="00000000000000000000"/>
      <p:regular r:id="rId19"/>
    </p:embeddedFont>
    <p:embeddedFont>
      <p:font typeface="DM Sans Bold Italic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386471" y="5638104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6004836" y="0"/>
                </a:moveTo>
                <a:lnTo>
                  <a:pt x="0" y="0"/>
                </a:lnTo>
                <a:lnTo>
                  <a:pt x="0" y="6883593"/>
                </a:lnTo>
                <a:lnTo>
                  <a:pt x="6004836" y="6883593"/>
                </a:lnTo>
                <a:lnTo>
                  <a:pt x="6004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1547244" y="-2193687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0" y="6883592"/>
                </a:moveTo>
                <a:lnTo>
                  <a:pt x="6004836" y="6883592"/>
                </a:lnTo>
                <a:lnTo>
                  <a:pt x="6004836" y="0"/>
                </a:lnTo>
                <a:lnTo>
                  <a:pt x="0" y="0"/>
                </a:lnTo>
                <a:lnTo>
                  <a:pt x="0" y="68835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06999" y="101941"/>
            <a:ext cx="4148586" cy="4148586"/>
          </a:xfrm>
          <a:custGeom>
            <a:avLst/>
            <a:gdLst/>
            <a:ahLst/>
            <a:cxnLst/>
            <a:rect r="r" b="b" t="t" l="l"/>
            <a:pathLst>
              <a:path h="4148586" w="4148586">
                <a:moveTo>
                  <a:pt x="0" y="0"/>
                </a:moveTo>
                <a:lnTo>
                  <a:pt x="4148586" y="0"/>
                </a:lnTo>
                <a:lnTo>
                  <a:pt x="4148586" y="4148586"/>
                </a:lnTo>
                <a:lnTo>
                  <a:pt x="0" y="4148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59366" y="57398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30135" y="6357932"/>
            <a:ext cx="3250917" cy="3250917"/>
          </a:xfrm>
          <a:custGeom>
            <a:avLst/>
            <a:gdLst/>
            <a:ahLst/>
            <a:cxnLst/>
            <a:rect r="r" b="b" t="t" l="l"/>
            <a:pathLst>
              <a:path h="3250917" w="3250917">
                <a:moveTo>
                  <a:pt x="0" y="0"/>
                </a:moveTo>
                <a:lnTo>
                  <a:pt x="3250917" y="0"/>
                </a:lnTo>
                <a:lnTo>
                  <a:pt x="3250917" y="3250917"/>
                </a:lnTo>
                <a:lnTo>
                  <a:pt x="0" y="32509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55713" y="6671306"/>
            <a:ext cx="4877234" cy="1896702"/>
          </a:xfrm>
          <a:custGeom>
            <a:avLst/>
            <a:gdLst/>
            <a:ahLst/>
            <a:cxnLst/>
            <a:rect r="r" b="b" t="t" l="l"/>
            <a:pathLst>
              <a:path h="1896702" w="4877234">
                <a:moveTo>
                  <a:pt x="0" y="0"/>
                </a:moveTo>
                <a:lnTo>
                  <a:pt x="4877234" y="0"/>
                </a:lnTo>
                <a:lnTo>
                  <a:pt x="4877234" y="1896702"/>
                </a:lnTo>
                <a:lnTo>
                  <a:pt x="0" y="18967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3538" y="4079077"/>
            <a:ext cx="10020923" cy="1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15"/>
              </a:lnSpc>
              <a:spcBef>
                <a:spcPct val="0"/>
              </a:spcBef>
            </a:pPr>
            <a:r>
              <a:rPr lang="en-US" sz="81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DESARROLLO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33538" y="3317818"/>
            <a:ext cx="10020923" cy="68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75"/>
              </a:lnSpc>
              <a:spcBef>
                <a:spcPct val="0"/>
              </a:spcBef>
            </a:pPr>
            <a:r>
              <a:rPr lang="en-US" sz="40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MÓDULO</a:t>
            </a:r>
            <a:r>
              <a:rPr lang="en-US" sz="40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 III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1818" y="5467195"/>
            <a:ext cx="7189363" cy="7268658"/>
          </a:xfrm>
          <a:custGeom>
            <a:avLst/>
            <a:gdLst/>
            <a:ahLst/>
            <a:cxnLst/>
            <a:rect r="r" b="b" t="t" l="l"/>
            <a:pathLst>
              <a:path h="7268658" w="7189363">
                <a:moveTo>
                  <a:pt x="0" y="0"/>
                </a:moveTo>
                <a:lnTo>
                  <a:pt x="7189364" y="0"/>
                </a:lnTo>
                <a:lnTo>
                  <a:pt x="7189364" y="7268657"/>
                </a:lnTo>
                <a:lnTo>
                  <a:pt x="0" y="7268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9163889">
            <a:off x="-1319133" y="-1423425"/>
            <a:ext cx="4037647" cy="3538447"/>
          </a:xfrm>
          <a:custGeom>
            <a:avLst/>
            <a:gdLst/>
            <a:ahLst/>
            <a:cxnLst/>
            <a:rect r="r" b="b" t="t" l="l"/>
            <a:pathLst>
              <a:path h="3538447" w="4037647">
                <a:moveTo>
                  <a:pt x="0" y="0"/>
                </a:moveTo>
                <a:lnTo>
                  <a:pt x="4037646" y="0"/>
                </a:lnTo>
                <a:lnTo>
                  <a:pt x="4037646" y="3538446"/>
                </a:lnTo>
                <a:lnTo>
                  <a:pt x="0" y="3538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652886" y="6153853"/>
            <a:ext cx="7801832" cy="3900916"/>
          </a:xfrm>
          <a:custGeom>
            <a:avLst/>
            <a:gdLst/>
            <a:ahLst/>
            <a:cxnLst/>
            <a:rect r="r" b="b" t="t" l="l"/>
            <a:pathLst>
              <a:path h="3900916" w="7801832">
                <a:moveTo>
                  <a:pt x="0" y="0"/>
                </a:moveTo>
                <a:lnTo>
                  <a:pt x="7801833" y="0"/>
                </a:lnTo>
                <a:lnTo>
                  <a:pt x="7801833" y="3900916"/>
                </a:lnTo>
                <a:lnTo>
                  <a:pt x="0" y="3900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54719" y="5982403"/>
            <a:ext cx="4145969" cy="4145969"/>
          </a:xfrm>
          <a:custGeom>
            <a:avLst/>
            <a:gdLst/>
            <a:ahLst/>
            <a:cxnLst/>
            <a:rect r="r" b="b" t="t" l="l"/>
            <a:pathLst>
              <a:path h="4145969" w="4145969">
                <a:moveTo>
                  <a:pt x="0" y="0"/>
                </a:moveTo>
                <a:lnTo>
                  <a:pt x="4145969" y="0"/>
                </a:lnTo>
                <a:lnTo>
                  <a:pt x="4145969" y="4145969"/>
                </a:lnTo>
                <a:lnTo>
                  <a:pt x="0" y="4145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78878"/>
            <a:ext cx="16628595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entorno que saca a J</a:t>
            </a:r>
            <a:r>
              <a:rPr lang="en-US" sz="4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avaScript del navegador para ejecutarlo directamente en la computadora o el servidor, sirviendo para crear aplicaciones de backend, gestionar dependencias con NPM y levantar servidores web con herramientas como Express.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49890"/>
            <a:ext cx="16747751" cy="94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1"/>
              </a:lnSpc>
            </a:pPr>
            <a:r>
              <a:rPr lang="en-US" sz="6030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 QUÉ ES NODE.JS?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9130" y="5984317"/>
            <a:ext cx="7062191" cy="3928344"/>
          </a:xfrm>
          <a:custGeom>
            <a:avLst/>
            <a:gdLst/>
            <a:ahLst/>
            <a:cxnLst/>
            <a:rect r="r" b="b" t="t" l="l"/>
            <a:pathLst>
              <a:path h="3928344" w="7062191">
                <a:moveTo>
                  <a:pt x="0" y="0"/>
                </a:moveTo>
                <a:lnTo>
                  <a:pt x="7062191" y="0"/>
                </a:lnTo>
                <a:lnTo>
                  <a:pt x="7062191" y="3928344"/>
                </a:lnTo>
                <a:lnTo>
                  <a:pt x="0" y="39283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9432" y="5764814"/>
            <a:ext cx="8734699" cy="4367350"/>
          </a:xfrm>
          <a:custGeom>
            <a:avLst/>
            <a:gdLst/>
            <a:ahLst/>
            <a:cxnLst/>
            <a:rect r="r" b="b" t="t" l="l"/>
            <a:pathLst>
              <a:path h="4367350" w="8734699">
                <a:moveTo>
                  <a:pt x="0" y="0"/>
                </a:moveTo>
                <a:lnTo>
                  <a:pt x="8734699" y="0"/>
                </a:lnTo>
                <a:lnTo>
                  <a:pt x="8734699" y="4367350"/>
                </a:lnTo>
                <a:lnTo>
                  <a:pt x="0" y="4367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217237" y="1009650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NPM?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5711" y="1756507"/>
            <a:ext cx="16982126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NPM (Node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Package Manager) es el gestor de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paq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uetes oficial de Node.js; sirve como una gigantesca tienda digital de herramientas, librerías y códigos creados por otros programadores que puedes descargar e integrar en tus propios proyectos con un solo comando para no tener que reinventar la rueda.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056351" y="-2717780"/>
            <a:ext cx="5960785" cy="5288842"/>
          </a:xfrm>
          <a:custGeom>
            <a:avLst/>
            <a:gdLst/>
            <a:ahLst/>
            <a:cxnLst/>
            <a:rect r="r" b="b" t="t" l="l"/>
            <a:pathLst>
              <a:path h="5288842" w="5960785">
                <a:moveTo>
                  <a:pt x="0" y="0"/>
                </a:moveTo>
                <a:lnTo>
                  <a:pt x="5960785" y="0"/>
                </a:lnTo>
                <a:lnTo>
                  <a:pt x="5960785" y="5288842"/>
                </a:lnTo>
                <a:lnTo>
                  <a:pt x="0" y="5288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22576" y="1983582"/>
            <a:ext cx="17269229" cy="568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tener </a:t>
            </a:r>
            <a:r>
              <a:rPr lang="en-US" sz="40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Node.js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listo, debes entrar a </a:t>
            </a:r>
            <a:r>
              <a:rPr lang="en-US" sz="40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nodejs.org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para descargar la versión </a:t>
            </a:r>
            <a:r>
              <a:rPr lang="en-US" sz="40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LTS recomendada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ejecutar el instalador aceptando todas las configuraciones predeterminadas para que se integre automáticamente al sistema, y finalmente abrir la terminal para escribir</a:t>
            </a:r>
            <a:r>
              <a:rPr lang="en-US" sz="4042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node -v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4042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npm -v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confirmando así que tanto el en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torno como su gestor de paquetes quedaron correctamente instalados y listos para usarse.</a:t>
            </a:r>
          </a:p>
          <a:p>
            <a:pPr algn="l">
              <a:lnSpc>
                <a:spcPts val="5660"/>
              </a:lnSpc>
            </a:pPr>
          </a:p>
          <a:p>
            <a:pPr algn="l">
              <a:lnSpc>
                <a:spcPts val="5660"/>
              </a:lnSpc>
            </a:pPr>
            <a:r>
              <a:rPr lang="en-US" sz="40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Visita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4042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https://nodejs.org/en/download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70428" y="6323178"/>
            <a:ext cx="3459441" cy="3459441"/>
          </a:xfrm>
          <a:custGeom>
            <a:avLst/>
            <a:gdLst/>
            <a:ahLst/>
            <a:cxnLst/>
            <a:rect r="r" b="b" t="t" l="l"/>
            <a:pathLst>
              <a:path h="3459441" w="3459441">
                <a:moveTo>
                  <a:pt x="0" y="0"/>
                </a:moveTo>
                <a:lnTo>
                  <a:pt x="3459441" y="0"/>
                </a:lnTo>
                <a:lnTo>
                  <a:pt x="3459441" y="3459440"/>
                </a:lnTo>
                <a:lnTo>
                  <a:pt x="0" y="3459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2576" y="895350"/>
            <a:ext cx="14999112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PRIMEROS PASOS CON NODE.JS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29869" y="7344316"/>
            <a:ext cx="4563342" cy="1774633"/>
          </a:xfrm>
          <a:custGeom>
            <a:avLst/>
            <a:gdLst/>
            <a:ahLst/>
            <a:cxnLst/>
            <a:rect r="r" b="b" t="t" l="l"/>
            <a:pathLst>
              <a:path h="1774633" w="4563342">
                <a:moveTo>
                  <a:pt x="0" y="0"/>
                </a:moveTo>
                <a:lnTo>
                  <a:pt x="4563342" y="0"/>
                </a:lnTo>
                <a:lnTo>
                  <a:pt x="4563342" y="1774633"/>
                </a:lnTo>
                <a:lnTo>
                  <a:pt x="0" y="17746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056351" y="-2717780"/>
            <a:ext cx="5960785" cy="5288842"/>
          </a:xfrm>
          <a:custGeom>
            <a:avLst/>
            <a:gdLst/>
            <a:ahLst/>
            <a:cxnLst/>
            <a:rect r="r" b="b" t="t" l="l"/>
            <a:pathLst>
              <a:path h="5288842" w="5960785">
                <a:moveTo>
                  <a:pt x="0" y="0"/>
                </a:moveTo>
                <a:lnTo>
                  <a:pt x="5960785" y="0"/>
                </a:lnTo>
                <a:lnTo>
                  <a:pt x="5960785" y="5288842"/>
                </a:lnTo>
                <a:lnTo>
                  <a:pt x="0" y="5288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22576" y="895350"/>
            <a:ext cx="14999112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PRIMEROS PASOS CON NODE.JS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576" y="1983582"/>
            <a:ext cx="17269229" cy="854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2863" indent="-436432" lvl="1">
              <a:lnSpc>
                <a:spcPts val="5660"/>
              </a:lnSpc>
              <a:buFont typeface="Arial"/>
              <a:buChar char="•"/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Inicializar el proyecto: Ejecutar npm init -y para crear el archivo package.json (la "cédula de identidad" del proyecto y su mapa de dependencias).</a:t>
            </a:r>
          </a:p>
          <a:p>
            <a:pPr algn="l">
              <a:lnSpc>
                <a:spcPts val="5660"/>
              </a:lnSpc>
            </a:pPr>
          </a:p>
          <a:p>
            <a:pPr algn="l" marL="872863" indent="-436432" lvl="1">
              <a:lnSpc>
                <a:spcPts val="5660"/>
              </a:lnSpc>
              <a:buFont typeface="Arial"/>
              <a:buChar char="•"/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Instalar el servidor ligero: Instalar Express con el comando npm i express para ver cómo se descargan los paquetes en la carpe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 node_modules.</a:t>
            </a:r>
          </a:p>
          <a:p>
            <a:pPr algn="l">
              <a:lnSpc>
                <a:spcPts val="5660"/>
              </a:lnSpc>
            </a:pPr>
          </a:p>
          <a:p>
            <a:pPr algn="l" marL="872863" indent="-436432" lvl="1">
              <a:lnSpc>
                <a:spcPts val="5660"/>
              </a:lnSpc>
              <a:buFont typeface="Arial"/>
              <a:buChar char="•"/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Crear el servidor web: Escribir el archivo principal (por ejemplo, index.js) con unas pocas líneas de código para levantar un servidor local.</a:t>
            </a:r>
          </a:p>
          <a:p>
            <a:pPr algn="l">
              <a:lnSpc>
                <a:spcPts val="566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056351" y="-2717780"/>
            <a:ext cx="5960785" cy="5288842"/>
          </a:xfrm>
          <a:custGeom>
            <a:avLst/>
            <a:gdLst/>
            <a:ahLst/>
            <a:cxnLst/>
            <a:rect r="r" b="b" t="t" l="l"/>
            <a:pathLst>
              <a:path h="5288842" w="5960785">
                <a:moveTo>
                  <a:pt x="0" y="0"/>
                </a:moveTo>
                <a:lnTo>
                  <a:pt x="5960785" y="0"/>
                </a:lnTo>
                <a:lnTo>
                  <a:pt x="5960785" y="5288842"/>
                </a:lnTo>
                <a:lnTo>
                  <a:pt x="0" y="5288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22576" y="895350"/>
            <a:ext cx="14999112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PRIMEROS PASOS CON NODE.JS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576" y="1983582"/>
            <a:ext cx="17568237" cy="71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2863" indent="-436432" lvl="1">
              <a:lnSpc>
                <a:spcPts val="5660"/>
              </a:lnSpc>
              <a:buFont typeface="Arial"/>
              <a:buChar char="•"/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Probarlo en vivo: Ejecutar node index.js y abrir http://localhost:3000 en el navegador para ver el servidor funcionando.</a:t>
            </a:r>
          </a:p>
          <a:p>
            <a:pPr algn="l">
              <a:lnSpc>
                <a:spcPts val="5660"/>
              </a:lnSpc>
            </a:pPr>
          </a:p>
          <a:p>
            <a:pPr algn="l" marL="872863" indent="-436432" lvl="1">
              <a:lnSpc>
                <a:spcPts val="5660"/>
              </a:lnSpc>
              <a:buFont typeface="Arial"/>
              <a:buChar char="•"/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Creación asistida: Mostrar cómo usar la IA (Claude Code, Copilot o DeepSeek) para resolver errores o consultar comandos durante este proceso.</a:t>
            </a:r>
          </a:p>
          <a:p>
            <a:pPr algn="l">
              <a:lnSpc>
                <a:spcPts val="5660"/>
              </a:lnSpc>
            </a:pPr>
          </a:p>
          <a:p>
            <a:pPr algn="l">
              <a:lnSpc>
                <a:spcPts val="5660"/>
              </a:lnSpc>
            </a:pPr>
          </a:p>
          <a:p>
            <a:pPr algn="l">
              <a:lnSpc>
                <a:spcPts val="5660"/>
              </a:lnSpc>
            </a:pPr>
            <a:r>
              <a:rPr lang="en-US" sz="40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NOTA: </a:t>
            </a:r>
            <a:r>
              <a:rPr lang="en-US" sz="4042" i="true" b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https://github.com/SamuelCubano/Desarrollo-Web-Superatec</a:t>
            </a:r>
          </a:p>
          <a:p>
            <a:pPr algn="l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entra a los ejemplos del Módulo III, allí se destacará mejor lo aprendido.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3432" y="313014"/>
            <a:ext cx="14459840" cy="205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88"/>
              </a:lnSpc>
              <a:spcBef>
                <a:spcPct val="0"/>
              </a:spcBef>
            </a:pPr>
            <a:r>
              <a:rPr lang="en-US" sz="1313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ACTIVIDAD #3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86191" y="-301379"/>
            <a:ext cx="3289140" cy="3770477"/>
          </a:xfrm>
          <a:custGeom>
            <a:avLst/>
            <a:gdLst/>
            <a:ahLst/>
            <a:cxnLst/>
            <a:rect r="r" b="b" t="t" l="l"/>
            <a:pathLst>
              <a:path h="3770477" w="3289140">
                <a:moveTo>
                  <a:pt x="0" y="0"/>
                </a:moveTo>
                <a:lnTo>
                  <a:pt x="3289140" y="0"/>
                </a:lnTo>
                <a:lnTo>
                  <a:pt x="3289140" y="3770477"/>
                </a:lnTo>
                <a:lnTo>
                  <a:pt x="0" y="3770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4275" y="2548115"/>
            <a:ext cx="17339449" cy="533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9"/>
              </a:lnSpc>
              <a:spcBef>
                <a:spcPct val="0"/>
              </a:spcBef>
            </a:pPr>
            <a:r>
              <a:rPr lang="en-US" sz="3933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PROPÓN Y CONSTRUYE UNA PLATAFORMA WEB INTERACTIVA TOTALMENTE LIBRE —COMO UN GENERADOR ALEATORIO, UN MINI JUEGO O UNA HERRAMIENTA ÚTIL— QUE LAS PERSONAS DEBAN SERVIR OBLIGATORIAMENTE USANDO SU PROPIO SERVIDOR BACKEND CON NODE.JS Y EXPRESS A TRAVÉS DE LA CARPETA PUBLIC, INTEGRANDO EN SU CÓDIGO FRONTEND UN ARREGLO DE DATOS, ESTRUCTURAS CONDICIONALES, MANIPULACIÓN DINÁMICA DEL DOM Y UN ADDEVENTLISTENER PARA QUE TODO COBRE VIDA.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9069" y="3809227"/>
            <a:ext cx="13229862" cy="178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172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RECUERDA SUBIR TU RETO A GITHUB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-1666877" y="6359034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357810" y="-2118491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72995" y="6113438"/>
            <a:ext cx="3859799" cy="3859799"/>
          </a:xfrm>
          <a:custGeom>
            <a:avLst/>
            <a:gdLst/>
            <a:ahLst/>
            <a:cxnLst/>
            <a:rect r="r" b="b" t="t" l="l"/>
            <a:pathLst>
              <a:path h="3859799" w="3859799">
                <a:moveTo>
                  <a:pt x="0" y="0"/>
                </a:moveTo>
                <a:lnTo>
                  <a:pt x="3859799" y="0"/>
                </a:lnTo>
                <a:lnTo>
                  <a:pt x="3859799" y="3859799"/>
                </a:lnTo>
                <a:lnTo>
                  <a:pt x="0" y="385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85809" y="6344810"/>
            <a:ext cx="3397055" cy="3397055"/>
          </a:xfrm>
          <a:custGeom>
            <a:avLst/>
            <a:gdLst/>
            <a:ahLst/>
            <a:cxnLst/>
            <a:rect r="r" b="b" t="t" l="l"/>
            <a:pathLst>
              <a:path h="3397055" w="3397055">
                <a:moveTo>
                  <a:pt x="0" y="0"/>
                </a:moveTo>
                <a:lnTo>
                  <a:pt x="3397054" y="0"/>
                </a:lnTo>
                <a:lnTo>
                  <a:pt x="3397054" y="3397055"/>
                </a:lnTo>
                <a:lnTo>
                  <a:pt x="0" y="3397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3674" y="4087147"/>
            <a:ext cx="11520653" cy="380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88"/>
              </a:lnSpc>
              <a:spcBef>
                <a:spcPct val="0"/>
              </a:spcBef>
            </a:pPr>
            <a:r>
              <a:rPr lang="en-US" sz="1313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¡HASTA LA PRÓXIMA!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41420" y="370164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0"/>
                </a:moveTo>
                <a:lnTo>
                  <a:pt x="3589507" y="0"/>
                </a:lnTo>
                <a:lnTo>
                  <a:pt x="3589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744" y="6328726"/>
            <a:ext cx="4079910" cy="3619993"/>
          </a:xfrm>
          <a:custGeom>
            <a:avLst/>
            <a:gdLst/>
            <a:ahLst/>
            <a:cxnLst/>
            <a:rect r="r" b="b" t="t" l="l"/>
            <a:pathLst>
              <a:path h="3619993" w="4079910">
                <a:moveTo>
                  <a:pt x="0" y="0"/>
                </a:moveTo>
                <a:lnTo>
                  <a:pt x="4079910" y="0"/>
                </a:lnTo>
                <a:lnTo>
                  <a:pt x="4079910" y="3619994"/>
                </a:lnTo>
                <a:lnTo>
                  <a:pt x="0" y="3619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DAHUh8iUKs4</dc:identifier>
  <dcterms:modified xsi:type="dcterms:W3CDTF">2011-08-01T06:04:30Z</dcterms:modified>
  <cp:revision>1</cp:revision>
  <dc:title>Copia de Curso de Desarrollo Web Modulo III</dc:title>
</cp:coreProperties>
</file>